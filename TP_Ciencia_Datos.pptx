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1" r:id="rId12"/>
    <p:sldId id="265" r:id="rId13"/>
    <p:sldId id="266" r:id="rId14"/>
    <p:sldId id="269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76"/>
  </p:normalViewPr>
  <p:slideViewPr>
    <p:cSldViewPr snapToGrid="0">
      <p:cViewPr varScale="1">
        <p:scale>
          <a:sx n="85" d="100"/>
          <a:sy n="85" d="100"/>
        </p:scale>
        <p:origin x="176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F0D223-7E77-458C-AEDB-932EB9BC37E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B54F15-D45E-42A8-AA16-BE7E4A97224A}">
      <dgm:prSet/>
      <dgm:spPr/>
      <dgm:t>
        <a:bodyPr/>
        <a:lstStyle/>
        <a:p>
          <a:r>
            <a:rPr lang="es-AR" b="0" i="0" baseline="0"/>
            <a:t>Se aplicó una política de </a:t>
          </a:r>
          <a:r>
            <a:rPr lang="es-AR" b="1" i="0" baseline="0"/>
            <a:t>casos completos</a:t>
          </a:r>
          <a:r>
            <a:rPr lang="es-AR" b="0" i="0" baseline="0"/>
            <a:t> para las variables del modelo, asumiendo un patrón de faltantes </a:t>
          </a:r>
          <a:r>
            <a:rPr lang="es-AR" b="1" i="0" baseline="0"/>
            <a:t>MCAR/MAR</a:t>
          </a:r>
          <a:r>
            <a:rPr lang="es-AR" b="0" i="0" baseline="0"/>
            <a:t> (no sistemático).</a:t>
          </a:r>
          <a:endParaRPr lang="en-US"/>
        </a:p>
      </dgm:t>
    </dgm:pt>
    <dgm:pt modelId="{CDA6E324-B5DF-4316-9DFF-02CE3E9ED946}" type="parTrans" cxnId="{C440251F-5CC1-44CF-BDED-FF9819D9CA51}">
      <dgm:prSet/>
      <dgm:spPr/>
      <dgm:t>
        <a:bodyPr/>
        <a:lstStyle/>
        <a:p>
          <a:endParaRPr lang="en-US"/>
        </a:p>
      </dgm:t>
    </dgm:pt>
    <dgm:pt modelId="{A1513EA0-3606-411F-9970-1E1AE7F06FA7}" type="sibTrans" cxnId="{C440251F-5CC1-44CF-BDED-FF9819D9CA51}">
      <dgm:prSet/>
      <dgm:spPr/>
      <dgm:t>
        <a:bodyPr/>
        <a:lstStyle/>
        <a:p>
          <a:endParaRPr lang="en-US"/>
        </a:p>
      </dgm:t>
    </dgm:pt>
    <dgm:pt modelId="{38096420-FAAB-4B7A-B83B-FFC5EDE9B2C8}">
      <dgm:prSet/>
      <dgm:spPr/>
      <dgm:t>
        <a:bodyPr/>
        <a:lstStyle/>
        <a:p>
          <a:r>
            <a:rPr lang="es-AR" b="0" i="0" baseline="0"/>
            <a:t>Se compararon estadísticas descriptivas </a:t>
          </a:r>
          <a:r>
            <a:rPr lang="es-AR" b="1" i="0" baseline="0"/>
            <a:t>antes y después</a:t>
          </a:r>
          <a:r>
            <a:rPr lang="es-AR" b="0" i="0" baseline="0"/>
            <a:t> de la limpieza para evaluar cambios en las distribuciones.</a:t>
          </a:r>
          <a:endParaRPr lang="en-US"/>
        </a:p>
      </dgm:t>
    </dgm:pt>
    <dgm:pt modelId="{1C3055AE-02CB-4D16-ADE6-682886CB939E}" type="parTrans" cxnId="{DBD1CE22-5C78-4CEF-81BF-20BD4CE27AD4}">
      <dgm:prSet/>
      <dgm:spPr/>
      <dgm:t>
        <a:bodyPr/>
        <a:lstStyle/>
        <a:p>
          <a:endParaRPr lang="en-US"/>
        </a:p>
      </dgm:t>
    </dgm:pt>
    <dgm:pt modelId="{0DA88D93-DB1E-42B8-88CA-EB700AB9B33B}" type="sibTrans" cxnId="{DBD1CE22-5C78-4CEF-81BF-20BD4CE27AD4}">
      <dgm:prSet/>
      <dgm:spPr/>
      <dgm:t>
        <a:bodyPr/>
        <a:lstStyle/>
        <a:p>
          <a:endParaRPr lang="en-US"/>
        </a:p>
      </dgm:t>
    </dgm:pt>
    <dgm:pt modelId="{4F21F81D-D799-40FC-925E-B234A38F3512}">
      <dgm:prSet/>
      <dgm:spPr/>
      <dgm:t>
        <a:bodyPr/>
        <a:lstStyle/>
        <a:p>
          <a:r>
            <a:rPr lang="es-AR" b="0" i="0" baseline="0"/>
            <a:t>Las medias, medianas y desvíos de </a:t>
          </a:r>
          <a:r>
            <a:rPr lang="es-AR" b="1" i="0" baseline="0"/>
            <a:t>PBI per cápita</a:t>
          </a:r>
          <a:r>
            <a:rPr lang="es-AR" b="0" i="0" baseline="0"/>
            <a:t>, </a:t>
          </a:r>
          <a:r>
            <a:rPr lang="es-AR" b="1" i="0" baseline="0"/>
            <a:t>gasto educativo</a:t>
          </a:r>
          <a:r>
            <a:rPr lang="es-AR" b="0" i="0" baseline="0"/>
            <a:t> y </a:t>
          </a:r>
          <a:r>
            <a:rPr lang="es-AR" b="1" i="0" baseline="0"/>
            <a:t>matrícula terciaria</a:t>
          </a:r>
          <a:r>
            <a:rPr lang="es-AR" b="0" i="0" baseline="0"/>
            <a:t> presentan variaciones bajas/moderadas.</a:t>
          </a:r>
          <a:endParaRPr lang="en-US"/>
        </a:p>
      </dgm:t>
    </dgm:pt>
    <dgm:pt modelId="{EDC3B1A8-9E49-4BC2-8292-E68A331388C6}" type="parTrans" cxnId="{BA36A1F2-ED81-4ED5-83BC-EE24F6CA1AA5}">
      <dgm:prSet/>
      <dgm:spPr/>
      <dgm:t>
        <a:bodyPr/>
        <a:lstStyle/>
        <a:p>
          <a:endParaRPr lang="en-US"/>
        </a:p>
      </dgm:t>
    </dgm:pt>
    <dgm:pt modelId="{3ADDBC3E-1F04-4313-BF61-923B647A4D5E}" type="sibTrans" cxnId="{BA36A1F2-ED81-4ED5-83BC-EE24F6CA1AA5}">
      <dgm:prSet/>
      <dgm:spPr/>
      <dgm:t>
        <a:bodyPr/>
        <a:lstStyle/>
        <a:p>
          <a:endParaRPr lang="en-US"/>
        </a:p>
      </dgm:t>
    </dgm:pt>
    <dgm:pt modelId="{5FAF2D10-4DDB-4221-990B-6A2741E07404}">
      <dgm:prSet/>
      <dgm:spPr/>
      <dgm:t>
        <a:bodyPr/>
        <a:lstStyle/>
        <a:p>
          <a:r>
            <a:rPr lang="es-AR" b="1" i="0" baseline="0"/>
            <a:t>Interpretación:</a:t>
          </a:r>
          <a:r>
            <a:rPr lang="es-AR" b="0" i="0" baseline="0"/>
            <a:t> la limpieza no altera de manera sustantiva las conclusiones del análisis inferencial.</a:t>
          </a:r>
          <a:endParaRPr lang="en-US"/>
        </a:p>
      </dgm:t>
    </dgm:pt>
    <dgm:pt modelId="{353CF868-39E2-4D5D-B0EF-3534C729D654}" type="parTrans" cxnId="{6EE52F56-CEA5-4F96-9821-E38DBEA3EF51}">
      <dgm:prSet/>
      <dgm:spPr/>
      <dgm:t>
        <a:bodyPr/>
        <a:lstStyle/>
        <a:p>
          <a:endParaRPr lang="en-US"/>
        </a:p>
      </dgm:t>
    </dgm:pt>
    <dgm:pt modelId="{C9625344-7BC5-4E57-A195-E7429A2D0E96}" type="sibTrans" cxnId="{6EE52F56-CEA5-4F96-9821-E38DBEA3EF51}">
      <dgm:prSet/>
      <dgm:spPr/>
      <dgm:t>
        <a:bodyPr/>
        <a:lstStyle/>
        <a:p>
          <a:endParaRPr lang="en-US"/>
        </a:p>
      </dgm:t>
    </dgm:pt>
    <dgm:pt modelId="{E369A552-845C-4369-9E81-0D2EFA5452B4}">
      <dgm:prSet/>
      <dgm:spPr/>
      <dgm:t>
        <a:bodyPr/>
        <a:lstStyle/>
        <a:p>
          <a:r>
            <a:rPr lang="es-AR" b="1" i="0" baseline="0"/>
            <a:t>Cuantificación:</a:t>
          </a:r>
          <a:r>
            <a:rPr lang="es-AR" b="0" i="0" baseline="0"/>
            <a:t> tabla generada automáticamente (tabla_antes_despues_missing_outliers.csv).</a:t>
          </a:r>
          <a:endParaRPr lang="en-US"/>
        </a:p>
      </dgm:t>
    </dgm:pt>
    <dgm:pt modelId="{F76405C2-4EFD-4041-8F2D-C1E48B8561BB}" type="parTrans" cxnId="{5FFCB391-7363-4954-BAAE-DACA66643B2D}">
      <dgm:prSet/>
      <dgm:spPr/>
      <dgm:t>
        <a:bodyPr/>
        <a:lstStyle/>
        <a:p>
          <a:endParaRPr lang="en-US"/>
        </a:p>
      </dgm:t>
    </dgm:pt>
    <dgm:pt modelId="{C3D875F1-74B3-440F-B184-7B10CB6EEB89}" type="sibTrans" cxnId="{5FFCB391-7363-4954-BAAE-DACA66643B2D}">
      <dgm:prSet/>
      <dgm:spPr/>
      <dgm:t>
        <a:bodyPr/>
        <a:lstStyle/>
        <a:p>
          <a:endParaRPr lang="en-US"/>
        </a:p>
      </dgm:t>
    </dgm:pt>
    <dgm:pt modelId="{9D65DE7E-8576-404A-806E-AEDE5275E56D}" type="pres">
      <dgm:prSet presAssocID="{90F0D223-7E77-458C-AEDB-932EB9BC37E4}" presName="linear" presStyleCnt="0">
        <dgm:presLayoutVars>
          <dgm:animLvl val="lvl"/>
          <dgm:resizeHandles val="exact"/>
        </dgm:presLayoutVars>
      </dgm:prSet>
      <dgm:spPr/>
    </dgm:pt>
    <dgm:pt modelId="{361AB474-075E-9E4B-8256-A8BB6AEF29AD}" type="pres">
      <dgm:prSet presAssocID="{83B54F15-D45E-42A8-AA16-BE7E4A97224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BBE381F-680D-5A4A-A161-EAB48964077A}" type="pres">
      <dgm:prSet presAssocID="{A1513EA0-3606-411F-9970-1E1AE7F06FA7}" presName="spacer" presStyleCnt="0"/>
      <dgm:spPr/>
    </dgm:pt>
    <dgm:pt modelId="{BB0FBC27-7682-A747-83FF-D7C2E633C632}" type="pres">
      <dgm:prSet presAssocID="{38096420-FAAB-4B7A-B83B-FFC5EDE9B2C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D955E10-5C5C-E34B-8B5D-6FC72663D1F9}" type="pres">
      <dgm:prSet presAssocID="{0DA88D93-DB1E-42B8-88CA-EB700AB9B33B}" presName="spacer" presStyleCnt="0"/>
      <dgm:spPr/>
    </dgm:pt>
    <dgm:pt modelId="{EF853B2A-D896-8B4F-83F7-B44BDE1EA575}" type="pres">
      <dgm:prSet presAssocID="{4F21F81D-D799-40FC-925E-B234A38F351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DCC9A10-444B-9540-82B5-FD904B5206D7}" type="pres">
      <dgm:prSet presAssocID="{3ADDBC3E-1F04-4313-BF61-923B647A4D5E}" presName="spacer" presStyleCnt="0"/>
      <dgm:spPr/>
    </dgm:pt>
    <dgm:pt modelId="{68D5E9A0-61F6-BC47-9FEB-3C19F34DF1DD}" type="pres">
      <dgm:prSet presAssocID="{5FAF2D10-4DDB-4221-990B-6A2741E0740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8B54C66-6680-BF48-96F9-F036C73216D7}" type="pres">
      <dgm:prSet presAssocID="{C9625344-7BC5-4E57-A195-E7429A2D0E96}" presName="spacer" presStyleCnt="0"/>
      <dgm:spPr/>
    </dgm:pt>
    <dgm:pt modelId="{CB8C8FA0-D13E-7243-9777-089D46C80934}" type="pres">
      <dgm:prSet presAssocID="{E369A552-845C-4369-9E81-0D2EFA5452B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440251F-5CC1-44CF-BDED-FF9819D9CA51}" srcId="{90F0D223-7E77-458C-AEDB-932EB9BC37E4}" destId="{83B54F15-D45E-42A8-AA16-BE7E4A97224A}" srcOrd="0" destOrd="0" parTransId="{CDA6E324-B5DF-4316-9DFF-02CE3E9ED946}" sibTransId="{A1513EA0-3606-411F-9970-1E1AE7F06FA7}"/>
    <dgm:cxn modelId="{DBD1CE22-5C78-4CEF-81BF-20BD4CE27AD4}" srcId="{90F0D223-7E77-458C-AEDB-932EB9BC37E4}" destId="{38096420-FAAB-4B7A-B83B-FFC5EDE9B2C8}" srcOrd="1" destOrd="0" parTransId="{1C3055AE-02CB-4D16-ADE6-682886CB939E}" sibTransId="{0DA88D93-DB1E-42B8-88CA-EB700AB9B33B}"/>
    <dgm:cxn modelId="{00350F3E-A7DF-2D46-9AE6-3B3D28B6D7AE}" type="presOf" srcId="{90F0D223-7E77-458C-AEDB-932EB9BC37E4}" destId="{9D65DE7E-8576-404A-806E-AEDE5275E56D}" srcOrd="0" destOrd="0" presId="urn:microsoft.com/office/officeart/2005/8/layout/vList2"/>
    <dgm:cxn modelId="{6EE52F56-CEA5-4F96-9821-E38DBEA3EF51}" srcId="{90F0D223-7E77-458C-AEDB-932EB9BC37E4}" destId="{5FAF2D10-4DDB-4221-990B-6A2741E07404}" srcOrd="3" destOrd="0" parTransId="{353CF868-39E2-4D5D-B0EF-3534C729D654}" sibTransId="{C9625344-7BC5-4E57-A195-E7429A2D0E96}"/>
    <dgm:cxn modelId="{5FFCB391-7363-4954-BAAE-DACA66643B2D}" srcId="{90F0D223-7E77-458C-AEDB-932EB9BC37E4}" destId="{E369A552-845C-4369-9E81-0D2EFA5452B4}" srcOrd="4" destOrd="0" parTransId="{F76405C2-4EFD-4041-8F2D-C1E48B8561BB}" sibTransId="{C3D875F1-74B3-440F-B184-7B10CB6EEB89}"/>
    <dgm:cxn modelId="{2EA0D291-B5CB-A740-96A2-60CC443CB83D}" type="presOf" srcId="{38096420-FAAB-4B7A-B83B-FFC5EDE9B2C8}" destId="{BB0FBC27-7682-A747-83FF-D7C2E633C632}" srcOrd="0" destOrd="0" presId="urn:microsoft.com/office/officeart/2005/8/layout/vList2"/>
    <dgm:cxn modelId="{51B68DA9-BA64-A34C-8350-7D605962E384}" type="presOf" srcId="{5FAF2D10-4DDB-4221-990B-6A2741E07404}" destId="{68D5E9A0-61F6-BC47-9FEB-3C19F34DF1DD}" srcOrd="0" destOrd="0" presId="urn:microsoft.com/office/officeart/2005/8/layout/vList2"/>
    <dgm:cxn modelId="{BA36A1F2-ED81-4ED5-83BC-EE24F6CA1AA5}" srcId="{90F0D223-7E77-458C-AEDB-932EB9BC37E4}" destId="{4F21F81D-D799-40FC-925E-B234A38F3512}" srcOrd="2" destOrd="0" parTransId="{EDC3B1A8-9E49-4BC2-8292-E68A331388C6}" sibTransId="{3ADDBC3E-1F04-4313-BF61-923B647A4D5E}"/>
    <dgm:cxn modelId="{89B33CFB-21CB-C042-9D78-13C3F0D4250E}" type="presOf" srcId="{83B54F15-D45E-42A8-AA16-BE7E4A97224A}" destId="{361AB474-075E-9E4B-8256-A8BB6AEF29AD}" srcOrd="0" destOrd="0" presId="urn:microsoft.com/office/officeart/2005/8/layout/vList2"/>
    <dgm:cxn modelId="{EACCAFFD-15E6-3749-AE8D-62C20ADC1CAE}" type="presOf" srcId="{E369A552-845C-4369-9E81-0D2EFA5452B4}" destId="{CB8C8FA0-D13E-7243-9777-089D46C80934}" srcOrd="0" destOrd="0" presId="urn:microsoft.com/office/officeart/2005/8/layout/vList2"/>
    <dgm:cxn modelId="{A1EBBDFF-8694-034A-8B9C-749AF2567A79}" type="presOf" srcId="{4F21F81D-D799-40FC-925E-B234A38F3512}" destId="{EF853B2A-D896-8B4F-83F7-B44BDE1EA575}" srcOrd="0" destOrd="0" presId="urn:microsoft.com/office/officeart/2005/8/layout/vList2"/>
    <dgm:cxn modelId="{C8DA88DC-1C24-754C-9DE6-E3620CAD8529}" type="presParOf" srcId="{9D65DE7E-8576-404A-806E-AEDE5275E56D}" destId="{361AB474-075E-9E4B-8256-A8BB6AEF29AD}" srcOrd="0" destOrd="0" presId="urn:microsoft.com/office/officeart/2005/8/layout/vList2"/>
    <dgm:cxn modelId="{DBCBE5A3-F0E4-1546-856C-EAC5F0F85F54}" type="presParOf" srcId="{9D65DE7E-8576-404A-806E-AEDE5275E56D}" destId="{ABBE381F-680D-5A4A-A161-EAB48964077A}" srcOrd="1" destOrd="0" presId="urn:microsoft.com/office/officeart/2005/8/layout/vList2"/>
    <dgm:cxn modelId="{78BEEB09-D642-AF46-B753-EF55E6875D82}" type="presParOf" srcId="{9D65DE7E-8576-404A-806E-AEDE5275E56D}" destId="{BB0FBC27-7682-A747-83FF-D7C2E633C632}" srcOrd="2" destOrd="0" presId="urn:microsoft.com/office/officeart/2005/8/layout/vList2"/>
    <dgm:cxn modelId="{D52F966F-7600-DA4A-A4CB-FA72658ED1FD}" type="presParOf" srcId="{9D65DE7E-8576-404A-806E-AEDE5275E56D}" destId="{4D955E10-5C5C-E34B-8B5D-6FC72663D1F9}" srcOrd="3" destOrd="0" presId="urn:microsoft.com/office/officeart/2005/8/layout/vList2"/>
    <dgm:cxn modelId="{DAE6ED6F-1648-4E43-8C3B-75237D3EEB00}" type="presParOf" srcId="{9D65DE7E-8576-404A-806E-AEDE5275E56D}" destId="{EF853B2A-D896-8B4F-83F7-B44BDE1EA575}" srcOrd="4" destOrd="0" presId="urn:microsoft.com/office/officeart/2005/8/layout/vList2"/>
    <dgm:cxn modelId="{1425CDBF-7634-5247-AEC7-E0F119C92E9B}" type="presParOf" srcId="{9D65DE7E-8576-404A-806E-AEDE5275E56D}" destId="{EDCC9A10-444B-9540-82B5-FD904B5206D7}" srcOrd="5" destOrd="0" presId="urn:microsoft.com/office/officeart/2005/8/layout/vList2"/>
    <dgm:cxn modelId="{0E9E4FDF-E1D5-6647-AE3A-BFB441E30F49}" type="presParOf" srcId="{9D65DE7E-8576-404A-806E-AEDE5275E56D}" destId="{68D5E9A0-61F6-BC47-9FEB-3C19F34DF1DD}" srcOrd="6" destOrd="0" presId="urn:microsoft.com/office/officeart/2005/8/layout/vList2"/>
    <dgm:cxn modelId="{9D4392FE-4899-EF42-8A6B-F742B194FD7A}" type="presParOf" srcId="{9D65DE7E-8576-404A-806E-AEDE5275E56D}" destId="{78B54C66-6680-BF48-96F9-F036C73216D7}" srcOrd="7" destOrd="0" presId="urn:microsoft.com/office/officeart/2005/8/layout/vList2"/>
    <dgm:cxn modelId="{83B9755F-2C2D-AE4B-9022-8228061CFE75}" type="presParOf" srcId="{9D65DE7E-8576-404A-806E-AEDE5275E56D}" destId="{CB8C8FA0-D13E-7243-9777-089D46C8093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D09774-5DE6-4EB7-BEE0-107EB746263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09784B-5FF3-4D1B-8CF3-BCE86BBF52E9}">
      <dgm:prSet/>
      <dgm:spPr/>
      <dgm:t>
        <a:bodyPr/>
        <a:lstStyle/>
        <a:p>
          <a:r>
            <a:rPr lang="es-AR" b="0" i="0" baseline="0"/>
            <a:t>Se clasificó a los países en cuartiles según </a:t>
          </a:r>
          <a:r>
            <a:rPr lang="es-AR" b="1" i="0" baseline="0"/>
            <a:t>gasto educativo (% del PBI)</a:t>
          </a:r>
          <a:r>
            <a:rPr lang="es-AR" b="0" i="0" baseline="0"/>
            <a:t> en 2019.</a:t>
          </a:r>
          <a:endParaRPr lang="en-US"/>
        </a:p>
      </dgm:t>
    </dgm:pt>
    <dgm:pt modelId="{E3CABD58-3CFE-40CE-8F64-DC0FC97092EC}" type="parTrans" cxnId="{92249276-D6EC-4CE8-829B-100DA9CC5FB1}">
      <dgm:prSet/>
      <dgm:spPr/>
      <dgm:t>
        <a:bodyPr/>
        <a:lstStyle/>
        <a:p>
          <a:endParaRPr lang="en-US"/>
        </a:p>
      </dgm:t>
    </dgm:pt>
    <dgm:pt modelId="{9CEE4481-4106-44A7-846F-0974F8F9F496}" type="sibTrans" cxnId="{92249276-D6EC-4CE8-829B-100DA9CC5FB1}">
      <dgm:prSet/>
      <dgm:spPr/>
      <dgm:t>
        <a:bodyPr/>
        <a:lstStyle/>
        <a:p>
          <a:endParaRPr lang="en-US"/>
        </a:p>
      </dgm:t>
    </dgm:pt>
    <dgm:pt modelId="{D7E0548B-CD93-4AC8-8FC7-DFA8B0C57A0C}">
      <dgm:prSet/>
      <dgm:spPr/>
      <dgm:t>
        <a:bodyPr/>
        <a:lstStyle/>
        <a:p>
          <a:r>
            <a:rPr lang="es-AR" b="0" i="0" baseline="0"/>
            <a:t>Se comparó el </a:t>
          </a:r>
          <a:r>
            <a:rPr lang="es-AR" b="1" i="0" baseline="0"/>
            <a:t>PBI per cápita (PPP)</a:t>
          </a:r>
          <a:r>
            <a:rPr lang="es-AR" b="0" i="0" baseline="0"/>
            <a:t> entre el cuartil más bajo (</a:t>
          </a:r>
          <a:r>
            <a:rPr lang="es-AR" b="1" i="0" baseline="0"/>
            <a:t>Q1</a:t>
          </a:r>
          <a:r>
            <a:rPr lang="es-AR" b="0" i="0" baseline="0"/>
            <a:t>) y el más alto (</a:t>
          </a:r>
          <a:r>
            <a:rPr lang="es-AR" b="1" i="0" baseline="0"/>
            <a:t>Q4</a:t>
          </a:r>
          <a:r>
            <a:rPr lang="es-AR" b="0" i="0" baseline="0"/>
            <a:t>).</a:t>
          </a:r>
          <a:endParaRPr lang="en-US"/>
        </a:p>
      </dgm:t>
    </dgm:pt>
    <dgm:pt modelId="{3E70C736-858C-4F81-BD2F-E58946737D4D}" type="parTrans" cxnId="{BE380567-4EBB-4F37-BB5B-D1BF31DB34D7}">
      <dgm:prSet/>
      <dgm:spPr/>
      <dgm:t>
        <a:bodyPr/>
        <a:lstStyle/>
        <a:p>
          <a:endParaRPr lang="en-US"/>
        </a:p>
      </dgm:t>
    </dgm:pt>
    <dgm:pt modelId="{CFC22F66-AB27-4F6D-8EC7-593530B99457}" type="sibTrans" cxnId="{BE380567-4EBB-4F37-BB5B-D1BF31DB34D7}">
      <dgm:prSet/>
      <dgm:spPr/>
      <dgm:t>
        <a:bodyPr/>
        <a:lstStyle/>
        <a:p>
          <a:endParaRPr lang="en-US"/>
        </a:p>
      </dgm:t>
    </dgm:pt>
    <dgm:pt modelId="{0F16C36A-BFA6-42B3-AB13-2E3217E9508B}">
      <dgm:prSet/>
      <dgm:spPr/>
      <dgm:t>
        <a:bodyPr/>
        <a:lstStyle/>
        <a:p>
          <a:r>
            <a:rPr lang="es-AR" b="0" i="0" baseline="0"/>
            <a:t>Los países del Q4 presentan un PBIpc </a:t>
          </a:r>
          <a:r>
            <a:rPr lang="es-AR" b="1" i="0" baseline="0"/>
            <a:t>significativamente superior</a:t>
          </a:r>
          <a:r>
            <a:rPr lang="es-AR" b="0" i="0" baseline="0"/>
            <a:t> al Q1 (p-valor &lt; 0.05).</a:t>
          </a:r>
          <a:endParaRPr lang="en-US"/>
        </a:p>
      </dgm:t>
    </dgm:pt>
    <dgm:pt modelId="{F3406D3C-D7EF-4E2F-82C8-3CBA951C9F2F}" type="parTrans" cxnId="{2BA71DCC-C363-4CB2-BB17-736024AF588C}">
      <dgm:prSet/>
      <dgm:spPr/>
      <dgm:t>
        <a:bodyPr/>
        <a:lstStyle/>
        <a:p>
          <a:endParaRPr lang="en-US"/>
        </a:p>
      </dgm:t>
    </dgm:pt>
    <dgm:pt modelId="{A22997DB-E71E-46FF-AEC1-4FFFA80347C5}" type="sibTrans" cxnId="{2BA71DCC-C363-4CB2-BB17-736024AF588C}">
      <dgm:prSet/>
      <dgm:spPr/>
      <dgm:t>
        <a:bodyPr/>
        <a:lstStyle/>
        <a:p>
          <a:endParaRPr lang="en-US"/>
        </a:p>
      </dgm:t>
    </dgm:pt>
    <dgm:pt modelId="{2C2E7FFB-1F68-461B-9001-48B2C77AD918}">
      <dgm:prSet/>
      <dgm:spPr/>
      <dgm:t>
        <a:bodyPr/>
        <a:lstStyle/>
        <a:p>
          <a:r>
            <a:rPr lang="es-AR" b="1" i="0" baseline="0"/>
            <a:t>Diferencia de medias positiva</a:t>
          </a:r>
          <a:r>
            <a:rPr lang="es-AR" b="0" i="0" baseline="0"/>
            <a:t>, consistente con la hipótesis principal (</a:t>
          </a:r>
          <a:r>
            <a:rPr lang="es-AR" b="1" i="0" baseline="0"/>
            <a:t>mayor inversión educativa → mayor desarrollo económico</a:t>
          </a:r>
          <a:r>
            <a:rPr lang="es-AR" b="0" i="0" baseline="0"/>
            <a:t>).</a:t>
          </a:r>
          <a:endParaRPr lang="en-US"/>
        </a:p>
      </dgm:t>
    </dgm:pt>
    <dgm:pt modelId="{B008961B-FA2A-4143-BE18-B29EE5A0E1A4}" type="parTrans" cxnId="{11D76CD6-38F8-4504-BB73-57C1115A2355}">
      <dgm:prSet/>
      <dgm:spPr/>
      <dgm:t>
        <a:bodyPr/>
        <a:lstStyle/>
        <a:p>
          <a:endParaRPr lang="en-US"/>
        </a:p>
      </dgm:t>
    </dgm:pt>
    <dgm:pt modelId="{3C8BD830-7432-45DC-A42A-C7EC371F52CB}" type="sibTrans" cxnId="{11D76CD6-38F8-4504-BB73-57C1115A2355}">
      <dgm:prSet/>
      <dgm:spPr/>
      <dgm:t>
        <a:bodyPr/>
        <a:lstStyle/>
        <a:p>
          <a:endParaRPr lang="en-US"/>
        </a:p>
      </dgm:t>
    </dgm:pt>
    <dgm:pt modelId="{65DD706B-DD47-4FB0-8470-8E5B06EF3F09}">
      <dgm:prSet/>
      <dgm:spPr/>
      <dgm:t>
        <a:bodyPr/>
        <a:lstStyle/>
        <a:p>
          <a:r>
            <a:rPr lang="es-AR" b="0" i="0" baseline="0"/>
            <a:t>Resultados exportados en test_t_gdp_q4_vs_q1_edu_2019.csv.</a:t>
          </a:r>
          <a:endParaRPr lang="en-US"/>
        </a:p>
      </dgm:t>
    </dgm:pt>
    <dgm:pt modelId="{CDEFD16A-87E0-4118-A1A1-AED87F432E7A}" type="parTrans" cxnId="{7E12721F-9FE1-4288-A4C6-4CF20A29834E}">
      <dgm:prSet/>
      <dgm:spPr/>
      <dgm:t>
        <a:bodyPr/>
        <a:lstStyle/>
        <a:p>
          <a:endParaRPr lang="en-US"/>
        </a:p>
      </dgm:t>
    </dgm:pt>
    <dgm:pt modelId="{E0F6533B-5421-45B5-BC57-72853E8BB73A}" type="sibTrans" cxnId="{7E12721F-9FE1-4288-A4C6-4CF20A29834E}">
      <dgm:prSet/>
      <dgm:spPr/>
      <dgm:t>
        <a:bodyPr/>
        <a:lstStyle/>
        <a:p>
          <a:endParaRPr lang="en-US"/>
        </a:p>
      </dgm:t>
    </dgm:pt>
    <dgm:pt modelId="{B5D176A9-D53D-FD4C-A23D-1C3256B76A9C}" type="pres">
      <dgm:prSet presAssocID="{C7D09774-5DE6-4EB7-BEE0-107EB746263A}" presName="linear" presStyleCnt="0">
        <dgm:presLayoutVars>
          <dgm:animLvl val="lvl"/>
          <dgm:resizeHandles val="exact"/>
        </dgm:presLayoutVars>
      </dgm:prSet>
      <dgm:spPr/>
    </dgm:pt>
    <dgm:pt modelId="{20C805CF-40F5-634E-B81E-A771A3FEE8FB}" type="pres">
      <dgm:prSet presAssocID="{D709784B-5FF3-4D1B-8CF3-BCE86BBF52E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F5263E9-4756-0D48-8574-E19D75CEBADB}" type="pres">
      <dgm:prSet presAssocID="{9CEE4481-4106-44A7-846F-0974F8F9F496}" presName="spacer" presStyleCnt="0"/>
      <dgm:spPr/>
    </dgm:pt>
    <dgm:pt modelId="{D07A63E1-6DE4-A74A-A092-7B6D016B709B}" type="pres">
      <dgm:prSet presAssocID="{D7E0548B-CD93-4AC8-8FC7-DFA8B0C57A0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E9348A7-A88D-CB46-A86E-02197D8EA91A}" type="pres">
      <dgm:prSet presAssocID="{CFC22F66-AB27-4F6D-8EC7-593530B99457}" presName="spacer" presStyleCnt="0"/>
      <dgm:spPr/>
    </dgm:pt>
    <dgm:pt modelId="{66209086-B488-E443-ACE0-889BC86FF616}" type="pres">
      <dgm:prSet presAssocID="{0F16C36A-BFA6-42B3-AB13-2E3217E9508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5D3ABB-E468-F840-89AD-22B473A84C24}" type="pres">
      <dgm:prSet presAssocID="{A22997DB-E71E-46FF-AEC1-4FFFA80347C5}" presName="spacer" presStyleCnt="0"/>
      <dgm:spPr/>
    </dgm:pt>
    <dgm:pt modelId="{9B48268E-6A6B-DC4B-9DB9-CE08314771CC}" type="pres">
      <dgm:prSet presAssocID="{2C2E7FFB-1F68-461B-9001-48B2C77AD91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49ED465-C462-3644-B213-F73B6F0AD5CF}" type="pres">
      <dgm:prSet presAssocID="{3C8BD830-7432-45DC-A42A-C7EC371F52CB}" presName="spacer" presStyleCnt="0"/>
      <dgm:spPr/>
    </dgm:pt>
    <dgm:pt modelId="{30977C83-C416-0D41-A9B9-9E36735F04F3}" type="pres">
      <dgm:prSet presAssocID="{65DD706B-DD47-4FB0-8470-8E5B06EF3F0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F41391B-F6DB-8547-A69D-7B68806EBE66}" type="presOf" srcId="{C7D09774-5DE6-4EB7-BEE0-107EB746263A}" destId="{B5D176A9-D53D-FD4C-A23D-1C3256B76A9C}" srcOrd="0" destOrd="0" presId="urn:microsoft.com/office/officeart/2005/8/layout/vList2"/>
    <dgm:cxn modelId="{7E12721F-9FE1-4288-A4C6-4CF20A29834E}" srcId="{C7D09774-5DE6-4EB7-BEE0-107EB746263A}" destId="{65DD706B-DD47-4FB0-8470-8E5B06EF3F09}" srcOrd="4" destOrd="0" parTransId="{CDEFD16A-87E0-4118-A1A1-AED87F432E7A}" sibTransId="{E0F6533B-5421-45B5-BC57-72853E8BB73A}"/>
    <dgm:cxn modelId="{BAFFD928-0F82-A044-A4C6-943B24EDB033}" type="presOf" srcId="{0F16C36A-BFA6-42B3-AB13-2E3217E9508B}" destId="{66209086-B488-E443-ACE0-889BC86FF616}" srcOrd="0" destOrd="0" presId="urn:microsoft.com/office/officeart/2005/8/layout/vList2"/>
    <dgm:cxn modelId="{BE380567-4EBB-4F37-BB5B-D1BF31DB34D7}" srcId="{C7D09774-5DE6-4EB7-BEE0-107EB746263A}" destId="{D7E0548B-CD93-4AC8-8FC7-DFA8B0C57A0C}" srcOrd="1" destOrd="0" parTransId="{3E70C736-858C-4F81-BD2F-E58946737D4D}" sibTransId="{CFC22F66-AB27-4F6D-8EC7-593530B99457}"/>
    <dgm:cxn modelId="{92249276-D6EC-4CE8-829B-100DA9CC5FB1}" srcId="{C7D09774-5DE6-4EB7-BEE0-107EB746263A}" destId="{D709784B-5FF3-4D1B-8CF3-BCE86BBF52E9}" srcOrd="0" destOrd="0" parTransId="{E3CABD58-3CFE-40CE-8F64-DC0FC97092EC}" sibTransId="{9CEE4481-4106-44A7-846F-0974F8F9F496}"/>
    <dgm:cxn modelId="{5350F87D-5B60-8040-98C7-6E6B11C10990}" type="presOf" srcId="{2C2E7FFB-1F68-461B-9001-48B2C77AD918}" destId="{9B48268E-6A6B-DC4B-9DB9-CE08314771CC}" srcOrd="0" destOrd="0" presId="urn:microsoft.com/office/officeart/2005/8/layout/vList2"/>
    <dgm:cxn modelId="{8E41DEAD-DE8C-524B-88C3-1761065B3D58}" type="presOf" srcId="{D7E0548B-CD93-4AC8-8FC7-DFA8B0C57A0C}" destId="{D07A63E1-6DE4-A74A-A092-7B6D016B709B}" srcOrd="0" destOrd="0" presId="urn:microsoft.com/office/officeart/2005/8/layout/vList2"/>
    <dgm:cxn modelId="{C834E1B5-48DB-D04D-BB94-5B3F4740A6CD}" type="presOf" srcId="{65DD706B-DD47-4FB0-8470-8E5B06EF3F09}" destId="{30977C83-C416-0D41-A9B9-9E36735F04F3}" srcOrd="0" destOrd="0" presId="urn:microsoft.com/office/officeart/2005/8/layout/vList2"/>
    <dgm:cxn modelId="{2BA71DCC-C363-4CB2-BB17-736024AF588C}" srcId="{C7D09774-5DE6-4EB7-BEE0-107EB746263A}" destId="{0F16C36A-BFA6-42B3-AB13-2E3217E9508B}" srcOrd="2" destOrd="0" parTransId="{F3406D3C-D7EF-4E2F-82C8-3CBA951C9F2F}" sibTransId="{A22997DB-E71E-46FF-AEC1-4FFFA80347C5}"/>
    <dgm:cxn modelId="{11D76CD6-38F8-4504-BB73-57C1115A2355}" srcId="{C7D09774-5DE6-4EB7-BEE0-107EB746263A}" destId="{2C2E7FFB-1F68-461B-9001-48B2C77AD918}" srcOrd="3" destOrd="0" parTransId="{B008961B-FA2A-4143-BE18-B29EE5A0E1A4}" sibTransId="{3C8BD830-7432-45DC-A42A-C7EC371F52CB}"/>
    <dgm:cxn modelId="{8732BCEC-1BC2-B247-A454-8227DF1B5361}" type="presOf" srcId="{D709784B-5FF3-4D1B-8CF3-BCE86BBF52E9}" destId="{20C805CF-40F5-634E-B81E-A771A3FEE8FB}" srcOrd="0" destOrd="0" presId="urn:microsoft.com/office/officeart/2005/8/layout/vList2"/>
    <dgm:cxn modelId="{8EF4A918-15B2-7C45-BBF6-9FC5EBE3F79E}" type="presParOf" srcId="{B5D176A9-D53D-FD4C-A23D-1C3256B76A9C}" destId="{20C805CF-40F5-634E-B81E-A771A3FEE8FB}" srcOrd="0" destOrd="0" presId="urn:microsoft.com/office/officeart/2005/8/layout/vList2"/>
    <dgm:cxn modelId="{48B8CD0D-2E1E-4646-AA60-FA8333F0E4BC}" type="presParOf" srcId="{B5D176A9-D53D-FD4C-A23D-1C3256B76A9C}" destId="{7F5263E9-4756-0D48-8574-E19D75CEBADB}" srcOrd="1" destOrd="0" presId="urn:microsoft.com/office/officeart/2005/8/layout/vList2"/>
    <dgm:cxn modelId="{325FF90D-E392-3246-A494-DBA5E5E32602}" type="presParOf" srcId="{B5D176A9-D53D-FD4C-A23D-1C3256B76A9C}" destId="{D07A63E1-6DE4-A74A-A092-7B6D016B709B}" srcOrd="2" destOrd="0" presId="urn:microsoft.com/office/officeart/2005/8/layout/vList2"/>
    <dgm:cxn modelId="{BE201996-CFF3-F84E-BACA-2BE1C15AD473}" type="presParOf" srcId="{B5D176A9-D53D-FD4C-A23D-1C3256B76A9C}" destId="{EE9348A7-A88D-CB46-A86E-02197D8EA91A}" srcOrd="3" destOrd="0" presId="urn:microsoft.com/office/officeart/2005/8/layout/vList2"/>
    <dgm:cxn modelId="{5419937F-241A-F14A-AE99-AF14082326D1}" type="presParOf" srcId="{B5D176A9-D53D-FD4C-A23D-1C3256B76A9C}" destId="{66209086-B488-E443-ACE0-889BC86FF616}" srcOrd="4" destOrd="0" presId="urn:microsoft.com/office/officeart/2005/8/layout/vList2"/>
    <dgm:cxn modelId="{E24A7CB4-4832-D746-B877-C39FE426690C}" type="presParOf" srcId="{B5D176A9-D53D-FD4C-A23D-1C3256B76A9C}" destId="{E45D3ABB-E468-F840-89AD-22B473A84C24}" srcOrd="5" destOrd="0" presId="urn:microsoft.com/office/officeart/2005/8/layout/vList2"/>
    <dgm:cxn modelId="{60DC9AA2-F461-D943-A957-7979A93BAAA7}" type="presParOf" srcId="{B5D176A9-D53D-FD4C-A23D-1C3256B76A9C}" destId="{9B48268E-6A6B-DC4B-9DB9-CE08314771CC}" srcOrd="6" destOrd="0" presId="urn:microsoft.com/office/officeart/2005/8/layout/vList2"/>
    <dgm:cxn modelId="{D0643D21-25BA-7F41-9676-B57B576F4145}" type="presParOf" srcId="{B5D176A9-D53D-FD4C-A23D-1C3256B76A9C}" destId="{A49ED465-C462-3644-B213-F73B6F0AD5CF}" srcOrd="7" destOrd="0" presId="urn:microsoft.com/office/officeart/2005/8/layout/vList2"/>
    <dgm:cxn modelId="{D747F82C-18FA-2945-944C-56EB7830E3B4}" type="presParOf" srcId="{B5D176A9-D53D-FD4C-A23D-1C3256B76A9C}" destId="{30977C83-C416-0D41-A9B9-9E36735F04F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15732E-C7BB-45DD-B942-DCD850126C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5C028D-F144-455E-8F0D-C07B7D7008B8}">
      <dgm:prSet/>
      <dgm:spPr/>
      <dgm:t>
        <a:bodyPr/>
        <a:lstStyle/>
        <a:p>
          <a:r>
            <a:rPr lang="es-AR" b="0" i="0" baseline="0"/>
            <a:t>Se evaluó la sensibilidad del modelo ante </a:t>
          </a:r>
          <a:r>
            <a:rPr lang="es-AR" b="1" i="0" baseline="0"/>
            <a:t>outliers extremos</a:t>
          </a:r>
          <a:r>
            <a:rPr lang="es-AR" b="0" i="0" baseline="0"/>
            <a:t>, aplicando winsorización al </a:t>
          </a:r>
          <a:r>
            <a:rPr lang="es-AR" b="1" i="0" baseline="0"/>
            <a:t>1–99%</a:t>
          </a:r>
          <a:r>
            <a:rPr lang="es-AR" b="0" i="0" baseline="0"/>
            <a:t>.</a:t>
          </a:r>
          <a:endParaRPr lang="en-US"/>
        </a:p>
      </dgm:t>
    </dgm:pt>
    <dgm:pt modelId="{259B84D1-9633-4F73-91C2-C95F58A3A8E9}" type="parTrans" cxnId="{DD4ED518-8AB1-47A9-8627-68F4DF6F04AE}">
      <dgm:prSet/>
      <dgm:spPr/>
      <dgm:t>
        <a:bodyPr/>
        <a:lstStyle/>
        <a:p>
          <a:endParaRPr lang="en-US"/>
        </a:p>
      </dgm:t>
    </dgm:pt>
    <dgm:pt modelId="{83F01F0C-96CD-412B-9F93-3253F2EBC9A1}" type="sibTrans" cxnId="{DD4ED518-8AB1-47A9-8627-68F4DF6F04AE}">
      <dgm:prSet/>
      <dgm:spPr/>
      <dgm:t>
        <a:bodyPr/>
        <a:lstStyle/>
        <a:p>
          <a:endParaRPr lang="en-US"/>
        </a:p>
      </dgm:t>
    </dgm:pt>
    <dgm:pt modelId="{FA764B6F-D65D-4D2B-974A-C8F4022A0B87}">
      <dgm:prSet/>
      <dgm:spPr/>
      <dgm:t>
        <a:bodyPr/>
        <a:lstStyle/>
        <a:p>
          <a:r>
            <a:rPr lang="es-AR" b="0" i="0" baseline="0"/>
            <a:t>Las estimaciones del modelo winsorizado mantienen </a:t>
          </a:r>
          <a:r>
            <a:rPr lang="es-AR" b="1" i="0" baseline="0"/>
            <a:t>signos, magnitudes y significancia</a:t>
          </a:r>
          <a:r>
            <a:rPr lang="es-AR" b="0" i="0" baseline="0"/>
            <a:t> similares al modelo base.</a:t>
          </a:r>
          <a:endParaRPr lang="en-US"/>
        </a:p>
      </dgm:t>
    </dgm:pt>
    <dgm:pt modelId="{EDB04D92-37B2-4D42-8838-B1355F7EA614}" type="parTrans" cxnId="{1AE3D9FD-1992-4637-B523-1B6AA09B443A}">
      <dgm:prSet/>
      <dgm:spPr/>
      <dgm:t>
        <a:bodyPr/>
        <a:lstStyle/>
        <a:p>
          <a:endParaRPr lang="en-US"/>
        </a:p>
      </dgm:t>
    </dgm:pt>
    <dgm:pt modelId="{DB01432D-B610-4826-8786-ABC79F42DA2E}" type="sibTrans" cxnId="{1AE3D9FD-1992-4637-B523-1B6AA09B443A}">
      <dgm:prSet/>
      <dgm:spPr/>
      <dgm:t>
        <a:bodyPr/>
        <a:lstStyle/>
        <a:p>
          <a:endParaRPr lang="en-US"/>
        </a:p>
      </dgm:t>
    </dgm:pt>
    <dgm:pt modelId="{B65D4099-43B6-4558-BF2F-28229673AFC9}">
      <dgm:prSet/>
      <dgm:spPr/>
      <dgm:t>
        <a:bodyPr/>
        <a:lstStyle/>
        <a:p>
          <a:r>
            <a:rPr lang="es-AR" b="0" i="0" baseline="0"/>
            <a:t>Esto sugiere que la relación entre inversión educativa y PBIpc es </a:t>
          </a:r>
          <a:r>
            <a:rPr lang="es-AR" b="1" i="0" baseline="0"/>
            <a:t>robusta</a:t>
          </a:r>
          <a:r>
            <a:rPr lang="es-AR" b="0" i="0" baseline="0"/>
            <a:t> a valores atípicos.</a:t>
          </a:r>
          <a:endParaRPr lang="en-US"/>
        </a:p>
      </dgm:t>
    </dgm:pt>
    <dgm:pt modelId="{B17327E5-67E7-4666-87C9-C8A9381E55C2}" type="parTrans" cxnId="{916AC3FE-82A5-4628-AFAC-4793239FAEC2}">
      <dgm:prSet/>
      <dgm:spPr/>
      <dgm:t>
        <a:bodyPr/>
        <a:lstStyle/>
        <a:p>
          <a:endParaRPr lang="en-US"/>
        </a:p>
      </dgm:t>
    </dgm:pt>
    <dgm:pt modelId="{A1D9DE1D-11C1-4BF4-B261-0B96A6CDA69A}" type="sibTrans" cxnId="{916AC3FE-82A5-4628-AFAC-4793239FAEC2}">
      <dgm:prSet/>
      <dgm:spPr/>
      <dgm:t>
        <a:bodyPr/>
        <a:lstStyle/>
        <a:p>
          <a:endParaRPr lang="en-US"/>
        </a:p>
      </dgm:t>
    </dgm:pt>
    <dgm:pt modelId="{30AE4278-5F3D-410D-8B26-39B63AEA9619}">
      <dgm:prSet/>
      <dgm:spPr/>
      <dgm:t>
        <a:bodyPr/>
        <a:lstStyle/>
        <a:p>
          <a:r>
            <a:rPr lang="es-AR" b="0" i="0" baseline="0"/>
            <a:t>Tabla comparativa generada en: regresion_coeficientes_comparacion_base_vs_winsor.csv.</a:t>
          </a:r>
          <a:endParaRPr lang="en-US"/>
        </a:p>
      </dgm:t>
    </dgm:pt>
    <dgm:pt modelId="{5CFBBA61-CE6F-4352-AAB8-DBC777FA9EC2}" type="parTrans" cxnId="{FE8FF424-3A71-4E55-B8FD-94504D1AE5E5}">
      <dgm:prSet/>
      <dgm:spPr/>
      <dgm:t>
        <a:bodyPr/>
        <a:lstStyle/>
        <a:p>
          <a:endParaRPr lang="en-US"/>
        </a:p>
      </dgm:t>
    </dgm:pt>
    <dgm:pt modelId="{A7A550A5-63EA-45AA-9F4C-67203FA93D99}" type="sibTrans" cxnId="{FE8FF424-3A71-4E55-B8FD-94504D1AE5E5}">
      <dgm:prSet/>
      <dgm:spPr/>
      <dgm:t>
        <a:bodyPr/>
        <a:lstStyle/>
        <a:p>
          <a:endParaRPr lang="en-US"/>
        </a:p>
      </dgm:t>
    </dgm:pt>
    <dgm:pt modelId="{B7D21DC2-2653-4162-A5B6-C5D8C25A27FC}" type="pres">
      <dgm:prSet presAssocID="{F915732E-C7BB-45DD-B942-DCD850126C50}" presName="root" presStyleCnt="0">
        <dgm:presLayoutVars>
          <dgm:dir/>
          <dgm:resizeHandles val="exact"/>
        </dgm:presLayoutVars>
      </dgm:prSet>
      <dgm:spPr/>
    </dgm:pt>
    <dgm:pt modelId="{4D71052E-993A-48CC-9F2C-D0F889421BBB}" type="pres">
      <dgm:prSet presAssocID="{C25C028D-F144-455E-8F0D-C07B7D7008B8}" presName="compNode" presStyleCnt="0"/>
      <dgm:spPr/>
    </dgm:pt>
    <dgm:pt modelId="{0C533769-B822-4867-970B-615E846721DE}" type="pres">
      <dgm:prSet presAssocID="{C25C028D-F144-455E-8F0D-C07B7D7008B8}" presName="bgRect" presStyleLbl="bgShp" presStyleIdx="0" presStyleCnt="4"/>
      <dgm:spPr/>
    </dgm:pt>
    <dgm:pt modelId="{6AA08DD9-423D-4E66-825E-B154EC76DCBD}" type="pres">
      <dgm:prSet presAssocID="{C25C028D-F144-455E-8F0D-C07B7D7008B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D8355CB4-8B54-4882-9042-457405569807}" type="pres">
      <dgm:prSet presAssocID="{C25C028D-F144-455E-8F0D-C07B7D7008B8}" presName="spaceRect" presStyleCnt="0"/>
      <dgm:spPr/>
    </dgm:pt>
    <dgm:pt modelId="{FE647C73-1985-450D-96DC-1ECBD4F856AC}" type="pres">
      <dgm:prSet presAssocID="{C25C028D-F144-455E-8F0D-C07B7D7008B8}" presName="parTx" presStyleLbl="revTx" presStyleIdx="0" presStyleCnt="4">
        <dgm:presLayoutVars>
          <dgm:chMax val="0"/>
          <dgm:chPref val="0"/>
        </dgm:presLayoutVars>
      </dgm:prSet>
      <dgm:spPr/>
    </dgm:pt>
    <dgm:pt modelId="{6E47E269-1F4D-4F11-B782-26AB93510DF6}" type="pres">
      <dgm:prSet presAssocID="{83F01F0C-96CD-412B-9F93-3253F2EBC9A1}" presName="sibTrans" presStyleCnt="0"/>
      <dgm:spPr/>
    </dgm:pt>
    <dgm:pt modelId="{723B3CFF-65F0-4FAC-9B6E-A67940310D5E}" type="pres">
      <dgm:prSet presAssocID="{FA764B6F-D65D-4D2B-974A-C8F4022A0B87}" presName="compNode" presStyleCnt="0"/>
      <dgm:spPr/>
    </dgm:pt>
    <dgm:pt modelId="{3E8A965C-079F-4555-9F12-716D0D7E124E}" type="pres">
      <dgm:prSet presAssocID="{FA764B6F-D65D-4D2B-974A-C8F4022A0B87}" presName="bgRect" presStyleLbl="bgShp" presStyleIdx="1" presStyleCnt="4"/>
      <dgm:spPr/>
    </dgm:pt>
    <dgm:pt modelId="{8571915A-EEDE-4430-B5A8-2F4CEFFAFA7F}" type="pres">
      <dgm:prSet presAssocID="{FA764B6F-D65D-4D2B-974A-C8F4022A0B8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F5B786C2-6927-4B72-BC6B-A8DA333582CE}" type="pres">
      <dgm:prSet presAssocID="{FA764B6F-D65D-4D2B-974A-C8F4022A0B87}" presName="spaceRect" presStyleCnt="0"/>
      <dgm:spPr/>
    </dgm:pt>
    <dgm:pt modelId="{B18CC0DD-BB00-41AD-97A5-230417EC4630}" type="pres">
      <dgm:prSet presAssocID="{FA764B6F-D65D-4D2B-974A-C8F4022A0B87}" presName="parTx" presStyleLbl="revTx" presStyleIdx="1" presStyleCnt="4">
        <dgm:presLayoutVars>
          <dgm:chMax val="0"/>
          <dgm:chPref val="0"/>
        </dgm:presLayoutVars>
      </dgm:prSet>
      <dgm:spPr/>
    </dgm:pt>
    <dgm:pt modelId="{36C9EA9E-397F-4A39-B170-D9ED7B6C9E8C}" type="pres">
      <dgm:prSet presAssocID="{DB01432D-B610-4826-8786-ABC79F42DA2E}" presName="sibTrans" presStyleCnt="0"/>
      <dgm:spPr/>
    </dgm:pt>
    <dgm:pt modelId="{3A92D984-A99D-4833-8E96-BD3575B00E64}" type="pres">
      <dgm:prSet presAssocID="{B65D4099-43B6-4558-BF2F-28229673AFC9}" presName="compNode" presStyleCnt="0"/>
      <dgm:spPr/>
    </dgm:pt>
    <dgm:pt modelId="{0812D0FD-89EF-4BDA-A6D7-2033B32DD8F5}" type="pres">
      <dgm:prSet presAssocID="{B65D4099-43B6-4558-BF2F-28229673AFC9}" presName="bgRect" presStyleLbl="bgShp" presStyleIdx="2" presStyleCnt="4"/>
      <dgm:spPr/>
    </dgm:pt>
    <dgm:pt modelId="{768E2CFC-BD23-4CDE-9F1C-9828AF5FB020}" type="pres">
      <dgm:prSet presAssocID="{B65D4099-43B6-4558-BF2F-28229673AFC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ar"/>
        </a:ext>
      </dgm:extLst>
    </dgm:pt>
    <dgm:pt modelId="{2041C7B9-65CB-46BC-ABA6-89847756F1BA}" type="pres">
      <dgm:prSet presAssocID="{B65D4099-43B6-4558-BF2F-28229673AFC9}" presName="spaceRect" presStyleCnt="0"/>
      <dgm:spPr/>
    </dgm:pt>
    <dgm:pt modelId="{2DEA3DBC-6A6F-4E74-8C7E-77CDDAD44D19}" type="pres">
      <dgm:prSet presAssocID="{B65D4099-43B6-4558-BF2F-28229673AFC9}" presName="parTx" presStyleLbl="revTx" presStyleIdx="2" presStyleCnt="4">
        <dgm:presLayoutVars>
          <dgm:chMax val="0"/>
          <dgm:chPref val="0"/>
        </dgm:presLayoutVars>
      </dgm:prSet>
      <dgm:spPr/>
    </dgm:pt>
    <dgm:pt modelId="{31722D66-ED27-4941-9920-00761F067746}" type="pres">
      <dgm:prSet presAssocID="{A1D9DE1D-11C1-4BF4-B261-0B96A6CDA69A}" presName="sibTrans" presStyleCnt="0"/>
      <dgm:spPr/>
    </dgm:pt>
    <dgm:pt modelId="{21B0902C-20C9-4352-BE27-72DD14ACE675}" type="pres">
      <dgm:prSet presAssocID="{30AE4278-5F3D-410D-8B26-39B63AEA9619}" presName="compNode" presStyleCnt="0"/>
      <dgm:spPr/>
    </dgm:pt>
    <dgm:pt modelId="{958D6825-2452-474C-8E81-E7DC5466835C}" type="pres">
      <dgm:prSet presAssocID="{30AE4278-5F3D-410D-8B26-39B63AEA9619}" presName="bgRect" presStyleLbl="bgShp" presStyleIdx="3" presStyleCnt="4"/>
      <dgm:spPr/>
    </dgm:pt>
    <dgm:pt modelId="{C3C682D9-5026-4FA1-A135-DEE248408294}" type="pres">
      <dgm:prSet presAssocID="{30AE4278-5F3D-410D-8B26-39B63AEA961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unión"/>
        </a:ext>
      </dgm:extLst>
    </dgm:pt>
    <dgm:pt modelId="{BAA57BA9-3D8D-4213-8FE3-BBDB4CA61563}" type="pres">
      <dgm:prSet presAssocID="{30AE4278-5F3D-410D-8B26-39B63AEA9619}" presName="spaceRect" presStyleCnt="0"/>
      <dgm:spPr/>
    </dgm:pt>
    <dgm:pt modelId="{04306D7B-831A-49DA-95CD-987D4AD153B0}" type="pres">
      <dgm:prSet presAssocID="{30AE4278-5F3D-410D-8B26-39B63AEA961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D4ED518-8AB1-47A9-8627-68F4DF6F04AE}" srcId="{F915732E-C7BB-45DD-B942-DCD850126C50}" destId="{C25C028D-F144-455E-8F0D-C07B7D7008B8}" srcOrd="0" destOrd="0" parTransId="{259B84D1-9633-4F73-91C2-C95F58A3A8E9}" sibTransId="{83F01F0C-96CD-412B-9F93-3253F2EBC9A1}"/>
    <dgm:cxn modelId="{081B391C-9E41-4B61-95CC-476C7315DC31}" type="presOf" srcId="{F915732E-C7BB-45DD-B942-DCD850126C50}" destId="{B7D21DC2-2653-4162-A5B6-C5D8C25A27FC}" srcOrd="0" destOrd="0" presId="urn:microsoft.com/office/officeart/2018/2/layout/IconVerticalSolidList"/>
    <dgm:cxn modelId="{FE8FF424-3A71-4E55-B8FD-94504D1AE5E5}" srcId="{F915732E-C7BB-45DD-B942-DCD850126C50}" destId="{30AE4278-5F3D-410D-8B26-39B63AEA9619}" srcOrd="3" destOrd="0" parTransId="{5CFBBA61-CE6F-4352-AAB8-DBC777FA9EC2}" sibTransId="{A7A550A5-63EA-45AA-9F4C-67203FA93D99}"/>
    <dgm:cxn modelId="{ADE5D12E-C7FA-44E7-BC74-E7F70A4EF0E9}" type="presOf" srcId="{C25C028D-F144-455E-8F0D-C07B7D7008B8}" destId="{FE647C73-1985-450D-96DC-1ECBD4F856AC}" srcOrd="0" destOrd="0" presId="urn:microsoft.com/office/officeart/2018/2/layout/IconVerticalSolidList"/>
    <dgm:cxn modelId="{67CF5B74-FBB2-45BF-A094-51E5E822EB6E}" type="presOf" srcId="{FA764B6F-D65D-4D2B-974A-C8F4022A0B87}" destId="{B18CC0DD-BB00-41AD-97A5-230417EC4630}" srcOrd="0" destOrd="0" presId="urn:microsoft.com/office/officeart/2018/2/layout/IconVerticalSolidList"/>
    <dgm:cxn modelId="{6F9E83A8-1311-4A2E-91B3-BD2ECDDDB6FF}" type="presOf" srcId="{30AE4278-5F3D-410D-8B26-39B63AEA9619}" destId="{04306D7B-831A-49DA-95CD-987D4AD153B0}" srcOrd="0" destOrd="0" presId="urn:microsoft.com/office/officeart/2018/2/layout/IconVerticalSolidList"/>
    <dgm:cxn modelId="{765B46C2-8C81-448A-90C8-7E75859A0D15}" type="presOf" srcId="{B65D4099-43B6-4558-BF2F-28229673AFC9}" destId="{2DEA3DBC-6A6F-4E74-8C7E-77CDDAD44D19}" srcOrd="0" destOrd="0" presId="urn:microsoft.com/office/officeart/2018/2/layout/IconVerticalSolidList"/>
    <dgm:cxn modelId="{1AE3D9FD-1992-4637-B523-1B6AA09B443A}" srcId="{F915732E-C7BB-45DD-B942-DCD850126C50}" destId="{FA764B6F-D65D-4D2B-974A-C8F4022A0B87}" srcOrd="1" destOrd="0" parTransId="{EDB04D92-37B2-4D42-8838-B1355F7EA614}" sibTransId="{DB01432D-B610-4826-8786-ABC79F42DA2E}"/>
    <dgm:cxn modelId="{916AC3FE-82A5-4628-AFAC-4793239FAEC2}" srcId="{F915732E-C7BB-45DD-B942-DCD850126C50}" destId="{B65D4099-43B6-4558-BF2F-28229673AFC9}" srcOrd="2" destOrd="0" parTransId="{B17327E5-67E7-4666-87C9-C8A9381E55C2}" sibTransId="{A1D9DE1D-11C1-4BF4-B261-0B96A6CDA69A}"/>
    <dgm:cxn modelId="{4657FCF1-186D-45D0-B341-CA594B3441BD}" type="presParOf" srcId="{B7D21DC2-2653-4162-A5B6-C5D8C25A27FC}" destId="{4D71052E-993A-48CC-9F2C-D0F889421BBB}" srcOrd="0" destOrd="0" presId="urn:microsoft.com/office/officeart/2018/2/layout/IconVerticalSolidList"/>
    <dgm:cxn modelId="{0F9DFB49-673F-4230-9116-E672D69E43AB}" type="presParOf" srcId="{4D71052E-993A-48CC-9F2C-D0F889421BBB}" destId="{0C533769-B822-4867-970B-615E846721DE}" srcOrd="0" destOrd="0" presId="urn:microsoft.com/office/officeart/2018/2/layout/IconVerticalSolidList"/>
    <dgm:cxn modelId="{12D91C4A-7128-4987-AB4B-4D1845E8FB76}" type="presParOf" srcId="{4D71052E-993A-48CC-9F2C-D0F889421BBB}" destId="{6AA08DD9-423D-4E66-825E-B154EC76DCBD}" srcOrd="1" destOrd="0" presId="urn:microsoft.com/office/officeart/2018/2/layout/IconVerticalSolidList"/>
    <dgm:cxn modelId="{39C5469E-8C54-45C1-A942-122AA4F37C0A}" type="presParOf" srcId="{4D71052E-993A-48CC-9F2C-D0F889421BBB}" destId="{D8355CB4-8B54-4882-9042-457405569807}" srcOrd="2" destOrd="0" presId="urn:microsoft.com/office/officeart/2018/2/layout/IconVerticalSolidList"/>
    <dgm:cxn modelId="{6A63AABD-184A-48BC-ABA9-2DB1D5F5D264}" type="presParOf" srcId="{4D71052E-993A-48CC-9F2C-D0F889421BBB}" destId="{FE647C73-1985-450D-96DC-1ECBD4F856AC}" srcOrd="3" destOrd="0" presId="urn:microsoft.com/office/officeart/2018/2/layout/IconVerticalSolidList"/>
    <dgm:cxn modelId="{DE425A4B-DBCA-4376-B175-66EE1A797F36}" type="presParOf" srcId="{B7D21DC2-2653-4162-A5B6-C5D8C25A27FC}" destId="{6E47E269-1F4D-4F11-B782-26AB93510DF6}" srcOrd="1" destOrd="0" presId="urn:microsoft.com/office/officeart/2018/2/layout/IconVerticalSolidList"/>
    <dgm:cxn modelId="{4A9CB900-C0AC-4AF8-86F4-68689A31F9C9}" type="presParOf" srcId="{B7D21DC2-2653-4162-A5B6-C5D8C25A27FC}" destId="{723B3CFF-65F0-4FAC-9B6E-A67940310D5E}" srcOrd="2" destOrd="0" presId="urn:microsoft.com/office/officeart/2018/2/layout/IconVerticalSolidList"/>
    <dgm:cxn modelId="{7D8FE164-C338-43D3-B819-F0B08788F1F9}" type="presParOf" srcId="{723B3CFF-65F0-4FAC-9B6E-A67940310D5E}" destId="{3E8A965C-079F-4555-9F12-716D0D7E124E}" srcOrd="0" destOrd="0" presId="urn:microsoft.com/office/officeart/2018/2/layout/IconVerticalSolidList"/>
    <dgm:cxn modelId="{99FD01BD-D246-4737-9900-E0984A495A71}" type="presParOf" srcId="{723B3CFF-65F0-4FAC-9B6E-A67940310D5E}" destId="{8571915A-EEDE-4430-B5A8-2F4CEFFAFA7F}" srcOrd="1" destOrd="0" presId="urn:microsoft.com/office/officeart/2018/2/layout/IconVerticalSolidList"/>
    <dgm:cxn modelId="{0AA3AF65-B043-43BE-8FF8-60B0AFE03F34}" type="presParOf" srcId="{723B3CFF-65F0-4FAC-9B6E-A67940310D5E}" destId="{F5B786C2-6927-4B72-BC6B-A8DA333582CE}" srcOrd="2" destOrd="0" presId="urn:microsoft.com/office/officeart/2018/2/layout/IconVerticalSolidList"/>
    <dgm:cxn modelId="{BC35F9BA-C996-4A8E-8553-8F1DD8A0EDA5}" type="presParOf" srcId="{723B3CFF-65F0-4FAC-9B6E-A67940310D5E}" destId="{B18CC0DD-BB00-41AD-97A5-230417EC4630}" srcOrd="3" destOrd="0" presId="urn:microsoft.com/office/officeart/2018/2/layout/IconVerticalSolidList"/>
    <dgm:cxn modelId="{4E487A23-EF3F-4754-834A-785833AF73AC}" type="presParOf" srcId="{B7D21DC2-2653-4162-A5B6-C5D8C25A27FC}" destId="{36C9EA9E-397F-4A39-B170-D9ED7B6C9E8C}" srcOrd="3" destOrd="0" presId="urn:microsoft.com/office/officeart/2018/2/layout/IconVerticalSolidList"/>
    <dgm:cxn modelId="{C8D7BC8C-722D-476D-9CD8-51183F540711}" type="presParOf" srcId="{B7D21DC2-2653-4162-A5B6-C5D8C25A27FC}" destId="{3A92D984-A99D-4833-8E96-BD3575B00E64}" srcOrd="4" destOrd="0" presId="urn:microsoft.com/office/officeart/2018/2/layout/IconVerticalSolidList"/>
    <dgm:cxn modelId="{8C5E5014-C51E-44B6-8CB2-E780ADABA88D}" type="presParOf" srcId="{3A92D984-A99D-4833-8E96-BD3575B00E64}" destId="{0812D0FD-89EF-4BDA-A6D7-2033B32DD8F5}" srcOrd="0" destOrd="0" presId="urn:microsoft.com/office/officeart/2018/2/layout/IconVerticalSolidList"/>
    <dgm:cxn modelId="{503FD942-4507-487B-A696-614217460FAA}" type="presParOf" srcId="{3A92D984-A99D-4833-8E96-BD3575B00E64}" destId="{768E2CFC-BD23-4CDE-9F1C-9828AF5FB020}" srcOrd="1" destOrd="0" presId="urn:microsoft.com/office/officeart/2018/2/layout/IconVerticalSolidList"/>
    <dgm:cxn modelId="{592A99CA-2F29-4F4C-B754-968F9DC45716}" type="presParOf" srcId="{3A92D984-A99D-4833-8E96-BD3575B00E64}" destId="{2041C7B9-65CB-46BC-ABA6-89847756F1BA}" srcOrd="2" destOrd="0" presId="urn:microsoft.com/office/officeart/2018/2/layout/IconVerticalSolidList"/>
    <dgm:cxn modelId="{54A4E071-2C57-4DB7-92FD-CF798A54184A}" type="presParOf" srcId="{3A92D984-A99D-4833-8E96-BD3575B00E64}" destId="{2DEA3DBC-6A6F-4E74-8C7E-77CDDAD44D19}" srcOrd="3" destOrd="0" presId="urn:microsoft.com/office/officeart/2018/2/layout/IconVerticalSolidList"/>
    <dgm:cxn modelId="{01BD6016-29A3-4BBF-B76A-9FA4664BBB20}" type="presParOf" srcId="{B7D21DC2-2653-4162-A5B6-C5D8C25A27FC}" destId="{31722D66-ED27-4941-9920-00761F067746}" srcOrd="5" destOrd="0" presId="urn:microsoft.com/office/officeart/2018/2/layout/IconVerticalSolidList"/>
    <dgm:cxn modelId="{5CC9D208-A0F1-43A5-BDE8-7C040DC4DB09}" type="presParOf" srcId="{B7D21DC2-2653-4162-A5B6-C5D8C25A27FC}" destId="{21B0902C-20C9-4352-BE27-72DD14ACE675}" srcOrd="6" destOrd="0" presId="urn:microsoft.com/office/officeart/2018/2/layout/IconVerticalSolidList"/>
    <dgm:cxn modelId="{59CF85E0-8289-4C51-BF5E-F2E5AFBC1AC2}" type="presParOf" srcId="{21B0902C-20C9-4352-BE27-72DD14ACE675}" destId="{958D6825-2452-474C-8E81-E7DC5466835C}" srcOrd="0" destOrd="0" presId="urn:microsoft.com/office/officeart/2018/2/layout/IconVerticalSolidList"/>
    <dgm:cxn modelId="{FF89D580-A1AE-4BE0-B91D-4260F28242E4}" type="presParOf" srcId="{21B0902C-20C9-4352-BE27-72DD14ACE675}" destId="{C3C682D9-5026-4FA1-A135-DEE248408294}" srcOrd="1" destOrd="0" presId="urn:microsoft.com/office/officeart/2018/2/layout/IconVerticalSolidList"/>
    <dgm:cxn modelId="{D85D9FFC-F4FF-449A-96D5-88E592BFE371}" type="presParOf" srcId="{21B0902C-20C9-4352-BE27-72DD14ACE675}" destId="{BAA57BA9-3D8D-4213-8FE3-BBDB4CA61563}" srcOrd="2" destOrd="0" presId="urn:microsoft.com/office/officeart/2018/2/layout/IconVerticalSolidList"/>
    <dgm:cxn modelId="{DB10E1DE-70A6-4B21-87AD-D5BB0359B155}" type="presParOf" srcId="{21B0902C-20C9-4352-BE27-72DD14ACE675}" destId="{04306D7B-831A-49DA-95CD-987D4AD153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AB474-075E-9E4B-8256-A8BB6AEF29AD}">
      <dsp:nvSpPr>
        <dsp:cNvPr id="0" name=""/>
        <dsp:cNvSpPr/>
      </dsp:nvSpPr>
      <dsp:spPr>
        <a:xfrm>
          <a:off x="0" y="128254"/>
          <a:ext cx="5607050" cy="8950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0" i="0" kern="1200" baseline="0"/>
            <a:t>Se aplicó una política de </a:t>
          </a:r>
          <a:r>
            <a:rPr lang="es-AR" sz="1700" b="1" i="0" kern="1200" baseline="0"/>
            <a:t>casos completos</a:t>
          </a:r>
          <a:r>
            <a:rPr lang="es-AR" sz="1700" b="0" i="0" kern="1200" baseline="0"/>
            <a:t> para las variables del modelo, asumiendo un patrón de faltantes </a:t>
          </a:r>
          <a:r>
            <a:rPr lang="es-AR" sz="1700" b="1" i="0" kern="1200" baseline="0"/>
            <a:t>MCAR/MAR</a:t>
          </a:r>
          <a:r>
            <a:rPr lang="es-AR" sz="1700" b="0" i="0" kern="1200" baseline="0"/>
            <a:t> (no sistemático).</a:t>
          </a:r>
          <a:endParaRPr lang="en-US" sz="1700" kern="1200"/>
        </a:p>
      </dsp:txBody>
      <dsp:txXfrm>
        <a:off x="43693" y="171947"/>
        <a:ext cx="5519664" cy="807664"/>
      </dsp:txXfrm>
    </dsp:sp>
    <dsp:sp modelId="{BB0FBC27-7682-A747-83FF-D7C2E633C632}">
      <dsp:nvSpPr>
        <dsp:cNvPr id="0" name=""/>
        <dsp:cNvSpPr/>
      </dsp:nvSpPr>
      <dsp:spPr>
        <a:xfrm>
          <a:off x="0" y="1072265"/>
          <a:ext cx="5607050" cy="895050"/>
        </a:xfrm>
        <a:prstGeom prst="roundRect">
          <a:avLst/>
        </a:prstGeom>
        <a:gradFill rotWithShape="0">
          <a:gsLst>
            <a:gs pos="0">
              <a:schemeClr val="accent2">
                <a:hueOff val="-2489545"/>
                <a:satOff val="13319"/>
                <a:lumOff val="98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2489545"/>
                <a:satOff val="13319"/>
                <a:lumOff val="98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2489545"/>
                <a:satOff val="13319"/>
                <a:lumOff val="98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0" i="0" kern="1200" baseline="0"/>
            <a:t>Se compararon estadísticas descriptivas </a:t>
          </a:r>
          <a:r>
            <a:rPr lang="es-AR" sz="1700" b="1" i="0" kern="1200" baseline="0"/>
            <a:t>antes y después</a:t>
          </a:r>
          <a:r>
            <a:rPr lang="es-AR" sz="1700" b="0" i="0" kern="1200" baseline="0"/>
            <a:t> de la limpieza para evaluar cambios en las distribuciones.</a:t>
          </a:r>
          <a:endParaRPr lang="en-US" sz="1700" kern="1200"/>
        </a:p>
      </dsp:txBody>
      <dsp:txXfrm>
        <a:off x="43693" y="1115958"/>
        <a:ext cx="5519664" cy="807664"/>
      </dsp:txXfrm>
    </dsp:sp>
    <dsp:sp modelId="{EF853B2A-D896-8B4F-83F7-B44BDE1EA575}">
      <dsp:nvSpPr>
        <dsp:cNvPr id="0" name=""/>
        <dsp:cNvSpPr/>
      </dsp:nvSpPr>
      <dsp:spPr>
        <a:xfrm>
          <a:off x="0" y="2016275"/>
          <a:ext cx="5607050" cy="895050"/>
        </a:xfrm>
        <a:prstGeom prst="roundRect">
          <a:avLst/>
        </a:prstGeom>
        <a:gradFill rotWithShape="0">
          <a:gsLst>
            <a:gs pos="0">
              <a:schemeClr val="accent2">
                <a:hueOff val="-4979090"/>
                <a:satOff val="26639"/>
                <a:lumOff val="196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4979090"/>
                <a:satOff val="26639"/>
                <a:lumOff val="196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4979090"/>
                <a:satOff val="26639"/>
                <a:lumOff val="196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0" i="0" kern="1200" baseline="0"/>
            <a:t>Las medias, medianas y desvíos de </a:t>
          </a:r>
          <a:r>
            <a:rPr lang="es-AR" sz="1700" b="1" i="0" kern="1200" baseline="0"/>
            <a:t>PBI per cápita</a:t>
          </a:r>
          <a:r>
            <a:rPr lang="es-AR" sz="1700" b="0" i="0" kern="1200" baseline="0"/>
            <a:t>, </a:t>
          </a:r>
          <a:r>
            <a:rPr lang="es-AR" sz="1700" b="1" i="0" kern="1200" baseline="0"/>
            <a:t>gasto educativo</a:t>
          </a:r>
          <a:r>
            <a:rPr lang="es-AR" sz="1700" b="0" i="0" kern="1200" baseline="0"/>
            <a:t> y </a:t>
          </a:r>
          <a:r>
            <a:rPr lang="es-AR" sz="1700" b="1" i="0" kern="1200" baseline="0"/>
            <a:t>matrícula terciaria</a:t>
          </a:r>
          <a:r>
            <a:rPr lang="es-AR" sz="1700" b="0" i="0" kern="1200" baseline="0"/>
            <a:t> presentan variaciones bajas/moderadas.</a:t>
          </a:r>
          <a:endParaRPr lang="en-US" sz="1700" kern="1200"/>
        </a:p>
      </dsp:txBody>
      <dsp:txXfrm>
        <a:off x="43693" y="2059968"/>
        <a:ext cx="5519664" cy="807664"/>
      </dsp:txXfrm>
    </dsp:sp>
    <dsp:sp modelId="{68D5E9A0-61F6-BC47-9FEB-3C19F34DF1DD}">
      <dsp:nvSpPr>
        <dsp:cNvPr id="0" name=""/>
        <dsp:cNvSpPr/>
      </dsp:nvSpPr>
      <dsp:spPr>
        <a:xfrm>
          <a:off x="0" y="2960285"/>
          <a:ext cx="5607050" cy="895050"/>
        </a:xfrm>
        <a:prstGeom prst="roundRect">
          <a:avLst/>
        </a:prstGeom>
        <a:gradFill rotWithShape="0">
          <a:gsLst>
            <a:gs pos="0">
              <a:schemeClr val="accent2">
                <a:hueOff val="-7468635"/>
                <a:satOff val="39959"/>
                <a:lumOff val="29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7468635"/>
                <a:satOff val="39959"/>
                <a:lumOff val="29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7468635"/>
                <a:satOff val="39959"/>
                <a:lumOff val="29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1" i="0" kern="1200" baseline="0"/>
            <a:t>Interpretación:</a:t>
          </a:r>
          <a:r>
            <a:rPr lang="es-AR" sz="1700" b="0" i="0" kern="1200" baseline="0"/>
            <a:t> la limpieza no altera de manera sustantiva las conclusiones del análisis inferencial.</a:t>
          </a:r>
          <a:endParaRPr lang="en-US" sz="1700" kern="1200"/>
        </a:p>
      </dsp:txBody>
      <dsp:txXfrm>
        <a:off x="43693" y="3003978"/>
        <a:ext cx="5519664" cy="807664"/>
      </dsp:txXfrm>
    </dsp:sp>
    <dsp:sp modelId="{CB8C8FA0-D13E-7243-9777-089D46C80934}">
      <dsp:nvSpPr>
        <dsp:cNvPr id="0" name=""/>
        <dsp:cNvSpPr/>
      </dsp:nvSpPr>
      <dsp:spPr>
        <a:xfrm>
          <a:off x="0" y="3904295"/>
          <a:ext cx="5607050" cy="895050"/>
        </a:xfrm>
        <a:prstGeom prst="roundRect">
          <a:avLst/>
        </a:prstGeom>
        <a:gradFill rotWithShape="0">
          <a:gsLst>
            <a:gs pos="0">
              <a:schemeClr val="accent2">
                <a:hueOff val="-9958180"/>
                <a:satOff val="53278"/>
                <a:lumOff val="392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9958180"/>
                <a:satOff val="53278"/>
                <a:lumOff val="392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9958180"/>
                <a:satOff val="53278"/>
                <a:lumOff val="392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1" i="0" kern="1200" baseline="0"/>
            <a:t>Cuantificación:</a:t>
          </a:r>
          <a:r>
            <a:rPr lang="es-AR" sz="1700" b="0" i="0" kern="1200" baseline="0"/>
            <a:t> tabla generada automáticamente (tabla_antes_despues_missing_outliers.csv).</a:t>
          </a:r>
          <a:endParaRPr lang="en-US" sz="1700" kern="1200"/>
        </a:p>
      </dsp:txBody>
      <dsp:txXfrm>
        <a:off x="43693" y="3947988"/>
        <a:ext cx="5519664" cy="807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805CF-40F5-634E-B81E-A771A3FEE8FB}">
      <dsp:nvSpPr>
        <dsp:cNvPr id="0" name=""/>
        <dsp:cNvSpPr/>
      </dsp:nvSpPr>
      <dsp:spPr>
        <a:xfrm>
          <a:off x="0" y="38653"/>
          <a:ext cx="7729728" cy="570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0" i="0" kern="1200" baseline="0"/>
            <a:t>Se clasificó a los países en cuartiles según </a:t>
          </a:r>
          <a:r>
            <a:rPr lang="es-AR" sz="1500" b="1" i="0" kern="1200" baseline="0"/>
            <a:t>gasto educativo (% del PBI)</a:t>
          </a:r>
          <a:r>
            <a:rPr lang="es-AR" sz="1500" b="0" i="0" kern="1200" baseline="0"/>
            <a:t> en 2019.</a:t>
          </a:r>
          <a:endParaRPr lang="en-US" sz="1500" kern="1200"/>
        </a:p>
      </dsp:txBody>
      <dsp:txXfrm>
        <a:off x="27843" y="66496"/>
        <a:ext cx="7674042" cy="514689"/>
      </dsp:txXfrm>
    </dsp:sp>
    <dsp:sp modelId="{D07A63E1-6DE4-A74A-A092-7B6D016B709B}">
      <dsp:nvSpPr>
        <dsp:cNvPr id="0" name=""/>
        <dsp:cNvSpPr/>
      </dsp:nvSpPr>
      <dsp:spPr>
        <a:xfrm>
          <a:off x="0" y="652228"/>
          <a:ext cx="7729728" cy="570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0" i="0" kern="1200" baseline="0"/>
            <a:t>Se comparó el </a:t>
          </a:r>
          <a:r>
            <a:rPr lang="es-AR" sz="1500" b="1" i="0" kern="1200" baseline="0"/>
            <a:t>PBI per cápita (PPP)</a:t>
          </a:r>
          <a:r>
            <a:rPr lang="es-AR" sz="1500" b="0" i="0" kern="1200" baseline="0"/>
            <a:t> entre el cuartil más bajo (</a:t>
          </a:r>
          <a:r>
            <a:rPr lang="es-AR" sz="1500" b="1" i="0" kern="1200" baseline="0"/>
            <a:t>Q1</a:t>
          </a:r>
          <a:r>
            <a:rPr lang="es-AR" sz="1500" b="0" i="0" kern="1200" baseline="0"/>
            <a:t>) y el más alto (</a:t>
          </a:r>
          <a:r>
            <a:rPr lang="es-AR" sz="1500" b="1" i="0" kern="1200" baseline="0"/>
            <a:t>Q4</a:t>
          </a:r>
          <a:r>
            <a:rPr lang="es-AR" sz="1500" b="0" i="0" kern="1200" baseline="0"/>
            <a:t>).</a:t>
          </a:r>
          <a:endParaRPr lang="en-US" sz="1500" kern="1200"/>
        </a:p>
      </dsp:txBody>
      <dsp:txXfrm>
        <a:off x="27843" y="680071"/>
        <a:ext cx="7674042" cy="514689"/>
      </dsp:txXfrm>
    </dsp:sp>
    <dsp:sp modelId="{66209086-B488-E443-ACE0-889BC86FF616}">
      <dsp:nvSpPr>
        <dsp:cNvPr id="0" name=""/>
        <dsp:cNvSpPr/>
      </dsp:nvSpPr>
      <dsp:spPr>
        <a:xfrm>
          <a:off x="0" y="1265804"/>
          <a:ext cx="7729728" cy="570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0" i="0" kern="1200" baseline="0"/>
            <a:t>Los países del Q4 presentan un PBIpc </a:t>
          </a:r>
          <a:r>
            <a:rPr lang="es-AR" sz="1500" b="1" i="0" kern="1200" baseline="0"/>
            <a:t>significativamente superior</a:t>
          </a:r>
          <a:r>
            <a:rPr lang="es-AR" sz="1500" b="0" i="0" kern="1200" baseline="0"/>
            <a:t> al Q1 (p-valor &lt; 0.05).</a:t>
          </a:r>
          <a:endParaRPr lang="en-US" sz="1500" kern="1200"/>
        </a:p>
      </dsp:txBody>
      <dsp:txXfrm>
        <a:off x="27843" y="1293647"/>
        <a:ext cx="7674042" cy="514689"/>
      </dsp:txXfrm>
    </dsp:sp>
    <dsp:sp modelId="{9B48268E-6A6B-DC4B-9DB9-CE08314771CC}">
      <dsp:nvSpPr>
        <dsp:cNvPr id="0" name=""/>
        <dsp:cNvSpPr/>
      </dsp:nvSpPr>
      <dsp:spPr>
        <a:xfrm>
          <a:off x="0" y="1879379"/>
          <a:ext cx="7729728" cy="570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i="0" kern="1200" baseline="0"/>
            <a:t>Diferencia de medias positiva</a:t>
          </a:r>
          <a:r>
            <a:rPr lang="es-AR" sz="1500" b="0" i="0" kern="1200" baseline="0"/>
            <a:t>, consistente con la hipótesis principal (</a:t>
          </a:r>
          <a:r>
            <a:rPr lang="es-AR" sz="1500" b="1" i="0" kern="1200" baseline="0"/>
            <a:t>mayor inversión educativa → mayor desarrollo económico</a:t>
          </a:r>
          <a:r>
            <a:rPr lang="es-AR" sz="1500" b="0" i="0" kern="1200" baseline="0"/>
            <a:t>).</a:t>
          </a:r>
          <a:endParaRPr lang="en-US" sz="1500" kern="1200"/>
        </a:p>
      </dsp:txBody>
      <dsp:txXfrm>
        <a:off x="27843" y="1907222"/>
        <a:ext cx="7674042" cy="514689"/>
      </dsp:txXfrm>
    </dsp:sp>
    <dsp:sp modelId="{30977C83-C416-0D41-A9B9-9E36735F04F3}">
      <dsp:nvSpPr>
        <dsp:cNvPr id="0" name=""/>
        <dsp:cNvSpPr/>
      </dsp:nvSpPr>
      <dsp:spPr>
        <a:xfrm>
          <a:off x="0" y="2492954"/>
          <a:ext cx="7729728" cy="570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0" i="0" kern="1200" baseline="0"/>
            <a:t>Resultados exportados en test_t_gdp_q4_vs_q1_edu_2019.csv.</a:t>
          </a:r>
          <a:endParaRPr lang="en-US" sz="1500" kern="1200"/>
        </a:p>
      </dsp:txBody>
      <dsp:txXfrm>
        <a:off x="27843" y="2520797"/>
        <a:ext cx="7674042" cy="5146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533769-B822-4867-970B-615E846721DE}">
      <dsp:nvSpPr>
        <dsp:cNvPr id="0" name=""/>
        <dsp:cNvSpPr/>
      </dsp:nvSpPr>
      <dsp:spPr>
        <a:xfrm>
          <a:off x="0" y="644"/>
          <a:ext cx="6151562" cy="10493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08DD9-423D-4E66-825E-B154EC76DCBD}">
      <dsp:nvSpPr>
        <dsp:cNvPr id="0" name=""/>
        <dsp:cNvSpPr/>
      </dsp:nvSpPr>
      <dsp:spPr>
        <a:xfrm>
          <a:off x="317435" y="236753"/>
          <a:ext cx="577155" cy="5771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47C73-1985-450D-96DC-1ECBD4F856AC}">
      <dsp:nvSpPr>
        <dsp:cNvPr id="0" name=""/>
        <dsp:cNvSpPr/>
      </dsp:nvSpPr>
      <dsp:spPr>
        <a:xfrm>
          <a:off x="1212026" y="644"/>
          <a:ext cx="4618802" cy="1115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08" tIns="118108" rIns="118108" bIns="11810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0" i="0" kern="1200" baseline="0"/>
            <a:t>Se evaluó la sensibilidad del modelo ante </a:t>
          </a:r>
          <a:r>
            <a:rPr lang="es-AR" sz="1400" b="1" i="0" kern="1200" baseline="0"/>
            <a:t>outliers extremos</a:t>
          </a:r>
          <a:r>
            <a:rPr lang="es-AR" sz="1400" b="0" i="0" kern="1200" baseline="0"/>
            <a:t>, aplicando winsorización al </a:t>
          </a:r>
          <a:r>
            <a:rPr lang="es-AR" sz="1400" b="1" i="0" kern="1200" baseline="0"/>
            <a:t>1–99%</a:t>
          </a:r>
          <a:r>
            <a:rPr lang="es-AR" sz="1400" b="0" i="0" kern="1200" baseline="0"/>
            <a:t>.</a:t>
          </a:r>
          <a:endParaRPr lang="en-US" sz="1400" kern="1200"/>
        </a:p>
      </dsp:txBody>
      <dsp:txXfrm>
        <a:off x="1212026" y="644"/>
        <a:ext cx="4618802" cy="1115984"/>
      </dsp:txXfrm>
    </dsp:sp>
    <dsp:sp modelId="{3E8A965C-079F-4555-9F12-716D0D7E124E}">
      <dsp:nvSpPr>
        <dsp:cNvPr id="0" name=""/>
        <dsp:cNvSpPr/>
      </dsp:nvSpPr>
      <dsp:spPr>
        <a:xfrm>
          <a:off x="0" y="1387169"/>
          <a:ext cx="6151562" cy="10493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71915A-EEDE-4430-B5A8-2F4CEFFAFA7F}">
      <dsp:nvSpPr>
        <dsp:cNvPr id="0" name=""/>
        <dsp:cNvSpPr/>
      </dsp:nvSpPr>
      <dsp:spPr>
        <a:xfrm>
          <a:off x="317435" y="1623279"/>
          <a:ext cx="577155" cy="5771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CC0DD-BB00-41AD-97A5-230417EC4630}">
      <dsp:nvSpPr>
        <dsp:cNvPr id="0" name=""/>
        <dsp:cNvSpPr/>
      </dsp:nvSpPr>
      <dsp:spPr>
        <a:xfrm>
          <a:off x="1212026" y="1387169"/>
          <a:ext cx="4618802" cy="1115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08" tIns="118108" rIns="118108" bIns="11810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0" i="0" kern="1200" baseline="0"/>
            <a:t>Las estimaciones del modelo winsorizado mantienen </a:t>
          </a:r>
          <a:r>
            <a:rPr lang="es-AR" sz="1400" b="1" i="0" kern="1200" baseline="0"/>
            <a:t>signos, magnitudes y significancia</a:t>
          </a:r>
          <a:r>
            <a:rPr lang="es-AR" sz="1400" b="0" i="0" kern="1200" baseline="0"/>
            <a:t> similares al modelo base.</a:t>
          </a:r>
          <a:endParaRPr lang="en-US" sz="1400" kern="1200"/>
        </a:p>
      </dsp:txBody>
      <dsp:txXfrm>
        <a:off x="1212026" y="1387169"/>
        <a:ext cx="4618802" cy="1115984"/>
      </dsp:txXfrm>
    </dsp:sp>
    <dsp:sp modelId="{0812D0FD-89EF-4BDA-A6D7-2033B32DD8F5}">
      <dsp:nvSpPr>
        <dsp:cNvPr id="0" name=""/>
        <dsp:cNvSpPr/>
      </dsp:nvSpPr>
      <dsp:spPr>
        <a:xfrm>
          <a:off x="0" y="2773695"/>
          <a:ext cx="6151562" cy="10493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8E2CFC-BD23-4CDE-9F1C-9828AF5FB020}">
      <dsp:nvSpPr>
        <dsp:cNvPr id="0" name=""/>
        <dsp:cNvSpPr/>
      </dsp:nvSpPr>
      <dsp:spPr>
        <a:xfrm>
          <a:off x="317435" y="3009804"/>
          <a:ext cx="577155" cy="5771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A3DBC-6A6F-4E74-8C7E-77CDDAD44D19}">
      <dsp:nvSpPr>
        <dsp:cNvPr id="0" name=""/>
        <dsp:cNvSpPr/>
      </dsp:nvSpPr>
      <dsp:spPr>
        <a:xfrm>
          <a:off x="1212026" y="2773695"/>
          <a:ext cx="4618802" cy="1115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08" tIns="118108" rIns="118108" bIns="11810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0" i="0" kern="1200" baseline="0"/>
            <a:t>Esto sugiere que la relación entre inversión educativa y PBIpc es </a:t>
          </a:r>
          <a:r>
            <a:rPr lang="es-AR" sz="1400" b="1" i="0" kern="1200" baseline="0"/>
            <a:t>robusta</a:t>
          </a:r>
          <a:r>
            <a:rPr lang="es-AR" sz="1400" b="0" i="0" kern="1200" baseline="0"/>
            <a:t> a valores atípicos.</a:t>
          </a:r>
          <a:endParaRPr lang="en-US" sz="1400" kern="1200"/>
        </a:p>
      </dsp:txBody>
      <dsp:txXfrm>
        <a:off x="1212026" y="2773695"/>
        <a:ext cx="4618802" cy="1115984"/>
      </dsp:txXfrm>
    </dsp:sp>
    <dsp:sp modelId="{958D6825-2452-474C-8E81-E7DC5466835C}">
      <dsp:nvSpPr>
        <dsp:cNvPr id="0" name=""/>
        <dsp:cNvSpPr/>
      </dsp:nvSpPr>
      <dsp:spPr>
        <a:xfrm>
          <a:off x="0" y="4160221"/>
          <a:ext cx="6151562" cy="10493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682D9-5026-4FA1-A135-DEE248408294}">
      <dsp:nvSpPr>
        <dsp:cNvPr id="0" name=""/>
        <dsp:cNvSpPr/>
      </dsp:nvSpPr>
      <dsp:spPr>
        <a:xfrm>
          <a:off x="317435" y="4396330"/>
          <a:ext cx="577155" cy="5771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06D7B-831A-49DA-95CD-987D4AD153B0}">
      <dsp:nvSpPr>
        <dsp:cNvPr id="0" name=""/>
        <dsp:cNvSpPr/>
      </dsp:nvSpPr>
      <dsp:spPr>
        <a:xfrm>
          <a:off x="1212026" y="4160221"/>
          <a:ext cx="4618802" cy="1115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08" tIns="118108" rIns="118108" bIns="11810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0" i="0" kern="1200" baseline="0"/>
            <a:t>Tabla comparativa generada en: regresion_coeficientes_comparacion_base_vs_winsor.csv.</a:t>
          </a:r>
          <a:endParaRPr lang="en-US" sz="1400" kern="1200"/>
        </a:p>
      </dsp:txBody>
      <dsp:txXfrm>
        <a:off x="1212026" y="4160221"/>
        <a:ext cx="4618802" cy="1115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027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209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5617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3291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18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6575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266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634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4108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896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213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D062950-CEC0-6E40-A24B-CDD7F8516DF6}" type="datetimeFigureOut">
              <a:rPr lang="es-AR" smtClean="0"/>
              <a:t>4/12/25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65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6E91F-A451-3BC2-73AA-73FF7C4AF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8590" y="988741"/>
            <a:ext cx="5888754" cy="4880518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lang="es-AR" sz="4100">
                <a:solidFill>
                  <a:schemeClr val="bg1"/>
                </a:solidFill>
              </a:rPr>
              <a:t>Relación entre inversión educativa y crecimiento económico</a:t>
            </a:r>
            <a:br>
              <a:rPr lang="es-AR" sz="4100">
                <a:solidFill>
                  <a:schemeClr val="bg1"/>
                </a:solidFill>
              </a:rPr>
            </a:br>
            <a:r>
              <a:rPr lang="es-AR" sz="4100">
                <a:solidFill>
                  <a:schemeClr val="bg1"/>
                </a:solidFill>
              </a:rPr>
              <a:t>Análisis global con foco en Argentina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5BD17F-C95C-40ED-8D04-03295D46F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3DEB5-0B19-4F8E-84E2-00F5861C9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7D420F-E722-DAA5-D880-8DE0DF639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7700" y="2007220"/>
            <a:ext cx="2357553" cy="2843560"/>
          </a:xfrm>
        </p:spPr>
        <p:txBody>
          <a:bodyPr anchor="ctr">
            <a:normAutofit/>
          </a:bodyPr>
          <a:lstStyle/>
          <a:p>
            <a:pPr algn="r"/>
            <a:r>
              <a:rPr lang="es-AR" sz="1900">
                <a:solidFill>
                  <a:schemeClr val="bg1"/>
                </a:solidFill>
              </a:rPr>
              <a:t>Ciencia de Datos para Economía y Negocios – Trabajo Final</a:t>
            </a:r>
          </a:p>
          <a:p>
            <a:pPr algn="r"/>
            <a:r>
              <a:rPr lang="es-AR" sz="1900">
                <a:solidFill>
                  <a:schemeClr val="bg1"/>
                </a:solidFill>
              </a:rPr>
              <a:t>Integrantes: </a:t>
            </a:r>
          </a:p>
          <a:p>
            <a:pPr algn="r"/>
            <a:r>
              <a:rPr lang="es-AR" sz="1900">
                <a:solidFill>
                  <a:schemeClr val="bg1"/>
                </a:solidFill>
              </a:rPr>
              <a:t>Juan Tomás Dumont (912486)</a:t>
            </a:r>
          </a:p>
          <a:p>
            <a:pPr algn="r"/>
            <a:r>
              <a:rPr lang="es-AR" sz="1900">
                <a:solidFill>
                  <a:schemeClr val="bg1"/>
                </a:solidFill>
              </a:rPr>
              <a:t>Facundo Rojas (911635)</a:t>
            </a:r>
          </a:p>
          <a:p>
            <a:pPr algn="r"/>
            <a:endParaRPr lang="es-AR" sz="1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460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12EA13F-A267-803B-7538-2EAD2BB03C4B}"/>
              </a:ext>
            </a:extLst>
          </p:cNvPr>
          <p:cNvSpPr txBox="1"/>
          <p:nvPr/>
        </p:nvSpPr>
        <p:spPr>
          <a:xfrm>
            <a:off x="829781" y="2708804"/>
            <a:ext cx="3698803" cy="1440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cap="all" spc="200">
                <a:latin typeface="+mj-lt"/>
                <a:ea typeface="+mj-ea"/>
                <a:cs typeface="+mj-cs"/>
              </a:rPr>
              <a:t>Objetivo e hipótesis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648D9D8-319C-339E-F007-B56AC1806C01}"/>
              </a:ext>
            </a:extLst>
          </p:cNvPr>
          <p:cNvSpPr txBox="1"/>
          <p:nvPr/>
        </p:nvSpPr>
        <p:spPr>
          <a:xfrm>
            <a:off x="6049182" y="802638"/>
            <a:ext cx="5313037" cy="513370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s-AR" b="1" dirty="0">
                <a:solidFill>
                  <a:schemeClr val="bg1"/>
                </a:solidFill>
              </a:rPr>
              <a:t>Objetivo general</a:t>
            </a:r>
          </a:p>
          <a:p>
            <a:r>
              <a:rPr lang="es-AR" dirty="0">
                <a:solidFill>
                  <a:schemeClr val="bg1"/>
                </a:solidFill>
              </a:rPr>
              <a:t>Analizar cómo la inversión en educación (gasto público, matrícula y alfabetización) se relaciona con el nivel de desarrollo económico (PBI per cápita PPP) en los países del </a:t>
            </a:r>
            <a:r>
              <a:rPr lang="es-AR" dirty="0" err="1">
                <a:solidFill>
                  <a:schemeClr val="bg1"/>
                </a:solidFill>
              </a:rPr>
              <a:t>World</a:t>
            </a:r>
            <a:r>
              <a:rPr lang="es-AR" dirty="0">
                <a:solidFill>
                  <a:schemeClr val="bg1"/>
                </a:solidFill>
              </a:rPr>
              <a:t> Bank, destacando el caso argentino dentro del contexto internacional.</a:t>
            </a:r>
          </a:p>
          <a:p>
            <a:br>
              <a:rPr lang="es-AR" dirty="0">
                <a:solidFill>
                  <a:schemeClr val="bg1"/>
                </a:solidFill>
              </a:rPr>
            </a:br>
            <a:endParaRPr lang="es-AR" dirty="0">
              <a:solidFill>
                <a:schemeClr val="bg1"/>
              </a:solidFill>
            </a:endParaRPr>
          </a:p>
          <a:p>
            <a:r>
              <a:rPr lang="es-AR" b="1" dirty="0">
                <a:solidFill>
                  <a:schemeClr val="bg1"/>
                </a:solidFill>
              </a:rPr>
              <a:t>Objetivos específicos</a:t>
            </a:r>
          </a:p>
          <a:p>
            <a:r>
              <a:rPr lang="es-AR" dirty="0">
                <a:solidFill>
                  <a:schemeClr val="bg1"/>
                </a:solidFill>
              </a:rPr>
              <a:t>Comparar patrones educativos y económicos entre </a:t>
            </a:r>
            <a:r>
              <a:rPr lang="es-AR" b="1" dirty="0">
                <a:solidFill>
                  <a:schemeClr val="bg1"/>
                </a:solidFill>
              </a:rPr>
              <a:t>países desarrollados</a:t>
            </a:r>
            <a:r>
              <a:rPr lang="es-AR" dirty="0">
                <a:solidFill>
                  <a:schemeClr val="bg1"/>
                </a:solidFill>
              </a:rPr>
              <a:t> y </a:t>
            </a:r>
            <a:r>
              <a:rPr lang="es-AR" b="1" dirty="0">
                <a:solidFill>
                  <a:schemeClr val="bg1"/>
                </a:solidFill>
              </a:rPr>
              <a:t>emergentes</a:t>
            </a:r>
            <a:r>
              <a:rPr lang="es-AR" dirty="0">
                <a:solidFill>
                  <a:schemeClr val="bg1"/>
                </a:solidFill>
              </a:rPr>
              <a:t>.</a:t>
            </a:r>
          </a:p>
          <a:p>
            <a:r>
              <a:rPr lang="es-AR" dirty="0">
                <a:solidFill>
                  <a:schemeClr val="bg1"/>
                </a:solidFill>
              </a:rPr>
              <a:t>Evaluar </a:t>
            </a:r>
            <a:r>
              <a:rPr lang="es-AR" dirty="0" err="1">
                <a:solidFill>
                  <a:schemeClr val="bg1"/>
                </a:solidFill>
              </a:rPr>
              <a:t>etadísticamente</a:t>
            </a:r>
            <a:r>
              <a:rPr lang="es-AR" dirty="0">
                <a:solidFill>
                  <a:schemeClr val="bg1"/>
                </a:solidFill>
              </a:rPr>
              <a:t> la asociación entre inversión educativa y PBI per cápita.</a:t>
            </a:r>
          </a:p>
          <a:p>
            <a:r>
              <a:rPr lang="es-AR" dirty="0">
                <a:solidFill>
                  <a:schemeClr val="bg1"/>
                </a:solidFill>
              </a:rPr>
              <a:t>Analizar la evolución relativa de Argentina entre 2000–2019.</a:t>
            </a:r>
          </a:p>
          <a:p>
            <a:br>
              <a:rPr lang="es-AR" dirty="0">
                <a:solidFill>
                  <a:schemeClr val="bg1"/>
                </a:solidFill>
              </a:rPr>
            </a:br>
            <a:endParaRPr lang="es-AR" dirty="0">
              <a:solidFill>
                <a:schemeClr val="bg1"/>
              </a:solidFill>
            </a:endParaRPr>
          </a:p>
          <a:p>
            <a:r>
              <a:rPr lang="es-AR" b="1" dirty="0">
                <a:solidFill>
                  <a:schemeClr val="bg1"/>
                </a:solidFill>
              </a:rPr>
              <a:t>Hipótesis de trabajo</a:t>
            </a:r>
          </a:p>
          <a:p>
            <a:r>
              <a:rPr lang="es-AR" b="1" dirty="0">
                <a:solidFill>
                  <a:schemeClr val="bg1"/>
                </a:solidFill>
              </a:rPr>
              <a:t>H1:</a:t>
            </a:r>
            <a:r>
              <a:rPr lang="es-AR" dirty="0">
                <a:solidFill>
                  <a:schemeClr val="bg1"/>
                </a:solidFill>
              </a:rPr>
              <a:t> Mayor inversión educativa → mayor PBI per cápita (relación positiva a nivel global).</a:t>
            </a:r>
          </a:p>
          <a:p>
            <a:r>
              <a:rPr lang="es-AR" b="1" dirty="0">
                <a:solidFill>
                  <a:schemeClr val="bg1"/>
                </a:solidFill>
              </a:rPr>
              <a:t>H2:</a:t>
            </a:r>
            <a:r>
              <a:rPr lang="es-AR" dirty="0">
                <a:solidFill>
                  <a:schemeClr val="bg1"/>
                </a:solidFill>
              </a:rPr>
              <a:t> Los países de altos ingresos muestran un esfuerzo educativo más estable y elevado.</a:t>
            </a:r>
          </a:p>
          <a:p>
            <a:r>
              <a:rPr lang="es-AR" b="1" dirty="0">
                <a:solidFill>
                  <a:schemeClr val="bg1"/>
                </a:solidFill>
              </a:rPr>
              <a:t>H3:</a:t>
            </a:r>
            <a:r>
              <a:rPr lang="es-AR" dirty="0">
                <a:solidFill>
                  <a:schemeClr val="bg1"/>
                </a:solidFill>
              </a:rPr>
              <a:t> Argentina sigue esta relación positiva, aunque de manera parcial por su volatilidad macroeconómica.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endParaRPr lang="en-US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9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85578-1E4B-4014-9D52-E7689475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50B3F-9390-4CA1-B3C8-91529289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DD6C42-B3F5-6C84-9ED9-C4ECDC0F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518" y="1059838"/>
            <a:ext cx="3632052" cy="473832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s-AR" sz="3600">
                <a:solidFill>
                  <a:schemeClr val="bg1"/>
                </a:solidFill>
              </a:rPr>
              <a:t>Datos y variables utilizadas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A87319-6012-080D-E0A8-AA4B809B1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9109" y="1059838"/>
            <a:ext cx="4665397" cy="4738323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s-AR" sz="1700" b="1" dirty="0"/>
              <a:t>Fuente de datos</a:t>
            </a:r>
            <a:endParaRPr lang="es-AR" sz="1700" dirty="0"/>
          </a:p>
          <a:p>
            <a:pPr>
              <a:lnSpc>
                <a:spcPct val="90000"/>
              </a:lnSpc>
            </a:pPr>
            <a:r>
              <a:rPr lang="es-AR" sz="1700" dirty="0" err="1"/>
              <a:t>World</a:t>
            </a:r>
            <a:r>
              <a:rPr lang="es-AR" sz="1700" dirty="0"/>
              <a:t> Bank – </a:t>
            </a:r>
            <a:r>
              <a:rPr lang="es-AR" sz="1700" dirty="0" err="1"/>
              <a:t>World</a:t>
            </a:r>
            <a:r>
              <a:rPr lang="es-AR" sz="1700" dirty="0"/>
              <a:t> </a:t>
            </a:r>
            <a:r>
              <a:rPr lang="es-AR" sz="1700" dirty="0" err="1"/>
              <a:t>Development</a:t>
            </a:r>
            <a:r>
              <a:rPr lang="es-AR" sz="1700" dirty="0"/>
              <a:t> </a:t>
            </a:r>
            <a:r>
              <a:rPr lang="es-AR" sz="1700" dirty="0" err="1"/>
              <a:t>Indicators</a:t>
            </a:r>
            <a:r>
              <a:rPr lang="es-AR" sz="1700" dirty="0"/>
              <a:t> (WDI).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Años considerados: 2000, 2010 y 2019.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Cobertura: todos los países con información disponible.</a:t>
            </a:r>
          </a:p>
          <a:p>
            <a:pPr>
              <a:lnSpc>
                <a:spcPct val="90000"/>
              </a:lnSpc>
            </a:pPr>
            <a:r>
              <a:rPr lang="es-AR" sz="1700" b="1" dirty="0"/>
              <a:t>Variables principales</a:t>
            </a:r>
            <a:endParaRPr lang="es-AR" sz="1700" dirty="0"/>
          </a:p>
          <a:p>
            <a:pPr>
              <a:lnSpc>
                <a:spcPct val="90000"/>
              </a:lnSpc>
            </a:pPr>
            <a:r>
              <a:rPr lang="es-AR" sz="1700" dirty="0"/>
              <a:t>PBI per cápita (PPP, USD): NY.GDP.PCAP.PP.CD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Gasto público en educación (% del PBI): SE.XPD.TOTL.GD.ZS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Matrícula terciaria (% tasa bruta): SE.TER.ENRR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Tasa de alfabetización adulta (%): SE.ADT.LITR.ZS</a:t>
            </a:r>
          </a:p>
          <a:p>
            <a:pPr>
              <a:lnSpc>
                <a:spcPct val="90000"/>
              </a:lnSpc>
            </a:pPr>
            <a:r>
              <a:rPr lang="es-AR" sz="1700" b="1" dirty="0"/>
              <a:t>Enfoque</a:t>
            </a:r>
            <a:endParaRPr lang="es-AR" sz="1700" dirty="0"/>
          </a:p>
          <a:p>
            <a:pPr>
              <a:lnSpc>
                <a:spcPct val="90000"/>
              </a:lnSpc>
            </a:pPr>
            <a:r>
              <a:rPr lang="es-AR" sz="1700" dirty="0"/>
              <a:t>“Se trabaja con todos los países para el análisis estadístico.”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“Se destaca específicamente el caso de Argentina en gráficos y discusión.”</a:t>
            </a:r>
          </a:p>
          <a:p>
            <a:pPr>
              <a:lnSpc>
                <a:spcPct val="90000"/>
              </a:lnSpc>
            </a:pP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197248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174E8-419D-A00C-34D7-2B0F4407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AR" sz="2400">
                <a:solidFill>
                  <a:schemeClr val="tx1"/>
                </a:solidFill>
              </a:rPr>
              <a:t>Procesamiento de datos: limpieza, missing y outliers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6818EC-A1E4-8AE7-8E9C-6EA4C16F6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Datos faltantes (</a:t>
            </a:r>
            <a:r>
              <a:rPr lang="es-AR" sz="1700" b="1" dirty="0" err="1">
                <a:solidFill>
                  <a:schemeClr val="bg1"/>
                </a:solidFill>
              </a:rPr>
              <a:t>missing</a:t>
            </a:r>
            <a:r>
              <a:rPr lang="es-AR" sz="1700" b="1" dirty="0">
                <a:solidFill>
                  <a:schemeClr val="bg1"/>
                </a:solidFill>
              </a:rPr>
              <a:t>)</a:t>
            </a:r>
            <a:endParaRPr lang="es-AR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PBI per cápita (PPP):</a:t>
            </a:r>
            <a:r>
              <a:rPr lang="es-AR" sz="1700" dirty="0">
                <a:solidFill>
                  <a:schemeClr val="bg1"/>
                </a:solidFill>
              </a:rPr>
              <a:t> 8.93% de valores faltantes</a:t>
            </a:r>
          </a:p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Gasto educativo (% del PBI):</a:t>
            </a:r>
            <a:r>
              <a:rPr lang="es-AR" sz="1700" dirty="0">
                <a:solidFill>
                  <a:schemeClr val="bg1"/>
                </a:solidFill>
              </a:rPr>
              <a:t> 37.28%</a:t>
            </a:r>
          </a:p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Matrícula terciaria:</a:t>
            </a:r>
            <a:r>
              <a:rPr lang="es-AR" sz="1700" dirty="0">
                <a:solidFill>
                  <a:schemeClr val="bg1"/>
                </a:solidFill>
              </a:rPr>
              <a:t> 40.23%</a:t>
            </a:r>
          </a:p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Alfabetización:</a:t>
            </a:r>
            <a:r>
              <a:rPr lang="es-AR" sz="1700" dirty="0">
                <a:solidFill>
                  <a:schemeClr val="bg1"/>
                </a:solidFill>
              </a:rPr>
              <a:t> 83.21% (la variable más incompleta del conjunto)</a:t>
            </a:r>
          </a:p>
          <a:p>
            <a:pPr>
              <a:lnSpc>
                <a:spcPct val="90000"/>
              </a:lnSpc>
            </a:pPr>
            <a:r>
              <a:rPr lang="es-AR" sz="1700" dirty="0">
                <a:solidFill>
                  <a:schemeClr val="bg1"/>
                </a:solidFill>
              </a:rPr>
              <a:t>Los faltantes son más frecuentes en países emergentes y en el año 2000. Debido a la irregularidad de estas series (especialmente alfabetización), se decidió trabajar con </a:t>
            </a:r>
            <a:r>
              <a:rPr lang="es-AR" sz="1700" b="1" dirty="0">
                <a:solidFill>
                  <a:schemeClr val="bg1"/>
                </a:solidFill>
              </a:rPr>
              <a:t>casos completos</a:t>
            </a:r>
            <a:r>
              <a:rPr lang="es-AR" sz="1700" dirty="0">
                <a:solidFill>
                  <a:schemeClr val="bg1"/>
                </a:solidFill>
              </a:rPr>
              <a:t> para el análisis inferencial.</a:t>
            </a:r>
          </a:p>
          <a:p>
            <a:pPr>
              <a:lnSpc>
                <a:spcPct val="90000"/>
              </a:lnSpc>
            </a:pPr>
            <a:r>
              <a:rPr lang="es-AR" sz="1700" b="1" dirty="0" err="1">
                <a:solidFill>
                  <a:schemeClr val="bg1"/>
                </a:solidFill>
              </a:rPr>
              <a:t>Outliers</a:t>
            </a:r>
            <a:endParaRPr lang="es-AR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s-AR" sz="1700" dirty="0">
                <a:solidFill>
                  <a:schemeClr val="bg1"/>
                </a:solidFill>
              </a:rPr>
              <a:t>Los </a:t>
            </a:r>
            <a:r>
              <a:rPr lang="es-AR" sz="1700" dirty="0" err="1">
                <a:solidFill>
                  <a:schemeClr val="bg1"/>
                </a:solidFill>
              </a:rPr>
              <a:t>outliers</a:t>
            </a:r>
            <a:r>
              <a:rPr lang="es-AR" sz="1700" dirty="0">
                <a:solidFill>
                  <a:schemeClr val="bg1"/>
                </a:solidFill>
              </a:rPr>
              <a:t> detectados en PBI per cápita corresponden a economías de muy alto ingreso (Qatar, Luxemburgo).</a:t>
            </a:r>
          </a:p>
          <a:p>
            <a:pPr>
              <a:lnSpc>
                <a:spcPct val="90000"/>
              </a:lnSpc>
            </a:pPr>
            <a:r>
              <a:rPr lang="es-AR" sz="1700" dirty="0">
                <a:solidFill>
                  <a:schemeClr val="bg1"/>
                </a:solidFill>
              </a:rPr>
              <a:t>En matrícula terciaria, valores superiores al 100% son correctos (tasa bruta).</a:t>
            </a:r>
            <a:br>
              <a:rPr lang="es-AR" sz="1700" dirty="0">
                <a:solidFill>
                  <a:schemeClr val="bg1"/>
                </a:solidFill>
              </a:rPr>
            </a:br>
            <a:r>
              <a:rPr lang="es-AR" sz="1700" b="1" dirty="0">
                <a:solidFill>
                  <a:schemeClr val="bg1"/>
                </a:solidFill>
              </a:rPr>
              <a:t>Decisión:</a:t>
            </a:r>
            <a:r>
              <a:rPr lang="es-AR" sz="1700" dirty="0">
                <a:solidFill>
                  <a:schemeClr val="bg1"/>
                </a:solidFill>
              </a:rPr>
              <a:t> no se eliminaron </a:t>
            </a:r>
            <a:r>
              <a:rPr lang="es-AR" sz="1700" dirty="0" err="1">
                <a:solidFill>
                  <a:schemeClr val="bg1"/>
                </a:solidFill>
              </a:rPr>
              <a:t>outliers</a:t>
            </a:r>
            <a:r>
              <a:rPr lang="es-AR" sz="1700" dirty="0">
                <a:solidFill>
                  <a:schemeClr val="bg1"/>
                </a:solidFill>
              </a:rPr>
              <a:t> porque representan valores reales y relevantes para el fenómeno estudiado.</a:t>
            </a:r>
          </a:p>
          <a:p>
            <a:pPr>
              <a:lnSpc>
                <a:spcPct val="90000"/>
              </a:lnSpc>
            </a:pPr>
            <a:endParaRPr lang="es-AR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858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F733E-4A51-BBCE-5BA7-C6FEC422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Gasto público en educación según nivel de desarrollo</a:t>
            </a:r>
            <a:endParaRPr lang="es-AR" sz="41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E2DE94A-0508-2C0F-F3D3-DD0AF4202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 gráfico muestra el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gasto educativo como % del PBI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promediado por año y por grupo de países: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Países de altos ingresos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Países emergentes y en desarrollo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 observa que: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Los países de altos ingresos mantienen, en promedio, un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esfuerzo fiscal ligeramente mayor y más estable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con valores en torno al 4,5–5% del PBI.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Los países emergentes muestran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niveles algo inferiores y más heterogéneos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alrededor del 4% del PBI.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Interpretación: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brecha en esfuerzo educativo acompaña la diferenciación en desarrollo económico.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inversión en educación aparece como una política relativamente prioritaria en países de mayores ingresos, aunque el diferencial no es tan amplio como el del PBI per cápita.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64A4AAD-87D1-9838-330B-8E15FB56C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41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1D465-54DF-1909-48A1-DED02228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PBI per cápita (PPP) según nivel de desarrollo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5CBF70-09DA-3B71-A99F-6959762399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 gráfico presenta el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PBI per cápita (PPP, USD)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promediado por grupo de países y año.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 constata que: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Los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países de altos ingresos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alcanzan niveles de PBI per cápita múltiples veces superiores a los emergentes.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brecha se mantiene en los tres años considerados (2000, 2010 y 2019), lo que sugiere una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diferencia estructural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más que transitoria.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Estos resultados son coherentes con la clasificación del Banco Mundial por nivel de ingreso.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Esta segmentación justifica el análisis separado de grupos (“Altos ingresos” vs “Emergentes”) en el resto del trabajo.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64BB46-108E-4DC5-720E-0A67D802F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9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D96FF-7AD8-59EA-59D6-0F06BCC36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Argentina: evolución del PBI y del gasto educativo (2000 = 100)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59FC5A-CAE2-4755-F7B1-3F15C60E52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 este gráfico, tanto el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PBI per cápita (PPP)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como el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gasto educativo (% del PBI)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se expresan como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índices con base 2000 = 100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lo que permite comparar la evolución relativa de ambas series.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 observa que: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Entre 2000 y 2010, ambas series muestran un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crecimiento significativo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aunque con distinta intensidad.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Entre 2010 y 2019 se aprecia una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pérdida de dinamismo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con cierta reversión o estancamiento en ambas variables.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trayectoria sugiere una asociación cualitativa positiva entre esfuerzo educativo y desempeño económico, pero con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limitaciones en la sostenibilidad en el tiempo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inestabilidad macroeconómica argentina aparece como un factor relevante que condiciona esta relación.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E69D7AC-67FC-263C-0B53-D229BA566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5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62EDF-441E-FAE3-DAA9-D17B4C0D3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Comparación internacional: educación y desarrollo</a:t>
            </a:r>
            <a:endParaRPr lang="es-AR" sz="41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4B4CA8-3C4C-6769-0F1F-B9CA23CBA4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 gráfico compara tres “unidades”: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Promedio países de altos ingresos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Promedio países emergentes y en desarrollo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Argentina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 presentan dos paneles con escalas separadas: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Panel 1: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Inversión educativa (% del PBI).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Panel 2: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PBI per cápita (PPP, USD).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Principales hallazgos: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Argentina destina aproximadamente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5% de su PBI a educación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en línea con el promedio de países emergentes, pero por debajo de los máximos de países desarrollados.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 términos de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PBI per cápita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Argentina se ubica claramente por debajo del promedio de altos ingresos, pero por encima de varios emergentes.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Conclusión visual: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 país se comporta como una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economía emergente intermedia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tanto en esfuerzo educativo como en nivel de ingreso.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BA8064-3EC9-FE79-0C03-1C16A02FA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96295"/>
            <a:ext cx="5150277" cy="309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91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BE789D-66E0-4C5C-8DDC-CF4D7BF21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C092F8-98E3-4599-A7BF-1B658CF1D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98DECE-8BB5-A38B-762B-8F6111D00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solidFill>
            <a:schemeClr val="tx2">
              <a:lumMod val="60000"/>
              <a:lumOff val="40000"/>
              <a:alpha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s-AR" sz="2200">
                <a:solidFill>
                  <a:schemeClr val="bg1"/>
                </a:solidFill>
              </a:rPr>
              <a:t>mpacto de la limpieza de datos (antes vs después)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F5104D9-C59D-9C95-4CB3-E2D76D948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4124330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8764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E757C2-603E-48B8-9ACB-A3E23F578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3465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F26F1-B516-714C-411E-B8F5A710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327" y="2865771"/>
            <a:ext cx="5928360" cy="1126462"/>
          </a:xfrm>
          <a:noFill/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s-AR" sz="2200">
                <a:solidFill>
                  <a:schemeClr val="bg1"/>
                </a:solidFill>
              </a:rPr>
              <a:t>Regresión múltiple: educación y PBI per cápita a nivel global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89BB9B-FD13-3FC1-55F9-75544AE6F6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18832" y="973600"/>
            <a:ext cx="3374136" cy="49242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Resultados clave 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 coeficiente asociado al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gasto educativo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es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positivo y estadísticamente significativo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lo que indica que, en promedio, un mayor esfuerzo educativo se asocia con mayor PBI per cápita.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alfabetización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también tiene un efecto positivo, reforzando la idea de que el capital humano básico está vinculado al desarrollo.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matrícula terciaria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muestra una relación positiva pero con significancia estadística más débil, posiblemente por la alta proporción de </a:t>
            </a:r>
            <a:r>
              <a:rPr kumimoji="0" lang="es-AR" altLang="es-AR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missing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la heterogeneidad entre países.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Calidad del ajuste:</a:t>
            </a:r>
            <a:endParaRPr kumimoji="0" lang="es-AR" altLang="es-AR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R²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del modelo es moderado, coherente con la idea de que el desarrollo económico depende de múltiples factores más allá de la educación (estructura productiva, instituciones, apertura, etc.).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19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6A02B-44CC-159D-16FB-1194F9D5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Test t por niveles de inversión educativa (Q4 vs Q1, 2019)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C6F69BD-523B-EC0D-97F9-65FCDD110C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2175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127958-6478-0301-B68B-FC37E8D9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s-AR" sz="2300">
                <a:solidFill>
                  <a:srgbClr val="FFFFFF"/>
                </a:solidFill>
              </a:rPr>
              <a:t>Test t: diferencias en PBI per cápita entre grupos de países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31FA81-1C0D-86B0-4B38-56FA38AB37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1695" y="1402080"/>
            <a:ext cx="5320696" cy="40538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 aplicó un </a:t>
            </a: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test t para muestras independientes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para comparar el PBI per cápita (PPP) entre: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Países de altos ingresos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Países emergentes y en desarrollo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s-AR" altLang="es-A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Resultados: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diferencia de medias es </a:t>
            </a: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estadísticamente significativa (p &lt; 0.001)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magnitud de la brecha es consistente con la observada en los gráficos de PBI.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Interpretación: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Existe una diferencia robusta y estadísticamente sustentada en el nivel de desarrollo económico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entre ambos grupos.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Este resultado fortalece la clasificación usada en el análisis descriptivo y en la regresión.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61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85578-1E4B-4014-9D52-E7689475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50B3F-9390-4CA1-B3C8-91529289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BAEE31-200C-D054-3F65-81CF95D2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518" y="1059838"/>
            <a:ext cx="3632052" cy="473832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s-AR" sz="3600">
                <a:solidFill>
                  <a:schemeClr val="bg1"/>
                </a:solidFill>
              </a:rPr>
              <a:t>ANOVA: inversión educativa según nivel de 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98917-6E48-8A9B-35BB-764BEE781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9109" y="1059838"/>
            <a:ext cx="4665397" cy="4738323"/>
          </a:xfrm>
        </p:spPr>
        <p:txBody>
          <a:bodyPr anchor="ctr">
            <a:normAutofit/>
          </a:bodyPr>
          <a:lstStyle/>
          <a:p>
            <a:r>
              <a:rPr lang="es-AR" dirty="0"/>
              <a:t>Se estimó un </a:t>
            </a:r>
            <a:r>
              <a:rPr lang="es-AR" b="1" dirty="0"/>
              <a:t>ANOVA de una vía</a:t>
            </a:r>
            <a:r>
              <a:rPr lang="es-AR" dirty="0"/>
              <a:t> con la variable dependiente:</a:t>
            </a:r>
          </a:p>
          <a:p>
            <a:pPr lvl="1"/>
            <a:r>
              <a:rPr lang="es-AR" b="1" dirty="0"/>
              <a:t>Gasto educativo (% del PBI)</a:t>
            </a:r>
            <a:endParaRPr lang="es-AR" dirty="0"/>
          </a:p>
          <a:p>
            <a:pPr lvl="1"/>
            <a:r>
              <a:rPr lang="es-AR" dirty="0"/>
              <a:t>Factor: </a:t>
            </a:r>
            <a:r>
              <a:rPr lang="es-AR" b="1" dirty="0"/>
              <a:t>grupo de desarrollo</a:t>
            </a:r>
            <a:r>
              <a:rPr lang="es-AR" dirty="0"/>
              <a:t> (Altos ingresos vs Emergentes).</a:t>
            </a:r>
          </a:p>
          <a:p>
            <a:pPr lvl="1"/>
            <a:r>
              <a:rPr lang="es-AR" dirty="0"/>
              <a:t>El resultado indica que las diferencias entre grupos son </a:t>
            </a:r>
            <a:r>
              <a:rPr lang="es-AR" b="1" dirty="0"/>
              <a:t>estadísticamente significativas</a:t>
            </a:r>
            <a:r>
              <a:rPr lang="es-AR" dirty="0"/>
              <a:t> (p &lt; 0.05).</a:t>
            </a:r>
          </a:p>
          <a:p>
            <a:pPr lvl="1"/>
            <a:r>
              <a:rPr lang="es-AR" dirty="0"/>
              <a:t>El esfuerzo educativo no se distribuye de forma aleatoria entre los países, sino que se asocia sistemáticamente con su nivel de desarrollo.</a:t>
            </a:r>
          </a:p>
          <a:p>
            <a:pPr lvl="1"/>
            <a:r>
              <a:rPr lang="es-AR" dirty="0"/>
              <a:t>Esto complementa la regresión múltiple y refuerza la idea de que hay patrones estructurales en la inversión educativa.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90239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B53BE1-D2E2-4E46-987E-211A9D500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A0144D-648D-F160-D1E4-087B294BE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530227"/>
            <a:ext cx="3401568" cy="1495794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s-AR" sz="1500" b="1">
                <a:solidFill>
                  <a:srgbClr val="FFFFFF"/>
                </a:solidFill>
              </a:rPr>
              <a:t>Robustez del modelo: winsorización 1–99%</a:t>
            </a:r>
            <a:br>
              <a:rPr lang="es-AR" sz="1500" b="1">
                <a:solidFill>
                  <a:srgbClr val="FFFFFF"/>
                </a:solidFill>
              </a:rPr>
            </a:br>
            <a:endParaRPr lang="es-AR" sz="150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B9713E-9F53-4A50-BDAA-CEB2A263B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4D05076-D6FC-3C8D-A606-284F4ADC2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622833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7807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0B2E0-57C1-A49E-0A8A-CC5F8377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El caso argentino en perspectiva comparada</a:t>
            </a:r>
            <a:endParaRPr lang="es-AR" sz="41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26DCB1-D009-B17E-A717-18299D1F76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Argentina presenta un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nivel de gasto educativo en torno al 5% del PBI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lo que la ubica en el rango superior de los países emergentes.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Sin embargo, su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PBI per cápita (PPP)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se mantiene por debajo del promedio de los países de altos ingresos, reflejando su condición de economía de ingreso medio.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partir de la evidencia: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trayectoria conjunta de PBI y gasto educativo sugiere una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relación positiva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pero limitada por la volatilidad macroeconómica.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inversión educativa es una condición necesaria pero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suficiente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para alcanzar los niveles de ingreso de las economías avanzadas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FABB4B-B932-89CD-C989-E00FEC50A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0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A3C23-D39E-45A5-D271-1AAB1BF6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AR" sz="2400">
                <a:solidFill>
                  <a:schemeClr val="tx1"/>
                </a:solidFill>
              </a:rPr>
              <a:t>Limitaciones del estudio y líneas futuras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75EC7C-6C84-FC14-A310-F8307C7519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9182" y="802638"/>
            <a:ext cx="5408696" cy="52527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Limitaciones:</a:t>
            </a:r>
            <a:endParaRPr kumimoji="0" lang="es-AR" altLang="es-AR" sz="15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Alta proporción de missing en algunas variables (especialmente alfabetización), lo que reduce el tamaño muestral efectivo.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Solo se utilizaron tres años puntuales (2000, 2010, 2019), lo que impide un análisis dinámico de largo plazo.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 regresión para Argentina se basa en muy pocas observaciones y debe interpretarse con cautela.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El diseño es observacional, por lo que los resultados indican </a:t>
            </a:r>
            <a:r>
              <a:rPr kumimoji="0" lang="es-AR" altLang="es-AR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asociaciones</a:t>
            </a: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 no permiten afirmar causalidad.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s-AR" altLang="es-AR" sz="15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Líneas futuras:</a:t>
            </a:r>
            <a:endParaRPr kumimoji="0" lang="es-AR" altLang="es-AR" sz="15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Ampliar el período de análisis incorporando datos anuales completos → modelos de panel.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Agregar variables institucionales, fiscales y demográficas para controlar otras dimensiones del desarrollo.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Explorar técnicas adicionales como </a:t>
            </a:r>
            <a:r>
              <a:rPr kumimoji="0" lang="es-AR" altLang="es-AR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PCA</a:t>
            </a: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para sintetizar dimensiones de capital humano y desarrollo.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Analizar subgrupos regionales (ej. América Latina, OCDE, Mercosur) para refinar las comparaciones.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5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703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212</TotalTime>
  <Words>1835</Words>
  <Application>Microsoft Macintosh PowerPoint</Application>
  <PresentationFormat>Panorámica</PresentationFormat>
  <Paragraphs>138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Paquete</vt:lpstr>
      <vt:lpstr>Relación entre inversión educativa y crecimiento económico Análisis global con foco en Argentina</vt:lpstr>
      <vt:lpstr>Presentación de PowerPoint</vt:lpstr>
      <vt:lpstr>Datos y variables utilizadas</vt:lpstr>
      <vt:lpstr>Procesamiento de datos: limpieza, missing y outliers</vt:lpstr>
      <vt:lpstr>Gasto público en educación según nivel de desarrollo</vt:lpstr>
      <vt:lpstr>PBI per cápita (PPP) según nivel de desarrollo</vt:lpstr>
      <vt:lpstr>Argentina: evolución del PBI y del gasto educativo (2000 = 100)</vt:lpstr>
      <vt:lpstr>Comparación internacional: educación y desarrollo</vt:lpstr>
      <vt:lpstr>mpacto de la limpieza de datos (antes vs después)</vt:lpstr>
      <vt:lpstr>Regresión múltiple: educación y PBI per cápita a nivel global</vt:lpstr>
      <vt:lpstr>Test t por niveles de inversión educativa (Q4 vs Q1, 2019)</vt:lpstr>
      <vt:lpstr>Test t: diferencias en PBI per cápita entre grupos de países</vt:lpstr>
      <vt:lpstr>ANOVA: inversión educativa según nivel de desarrollo</vt:lpstr>
      <vt:lpstr>Robustez del modelo: winsorización 1–99% </vt:lpstr>
      <vt:lpstr>El caso argentino en perspectiva comparada</vt:lpstr>
      <vt:lpstr>Limitaciones del estudio y líneas futuras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Tomás Dumont</dc:creator>
  <cp:lastModifiedBy>Juan Tomás Dumont</cp:lastModifiedBy>
  <cp:revision>3</cp:revision>
  <dcterms:created xsi:type="dcterms:W3CDTF">2025-12-02T21:27:12Z</dcterms:created>
  <dcterms:modified xsi:type="dcterms:W3CDTF">2025-12-04T21:34:12Z</dcterms:modified>
</cp:coreProperties>
</file>