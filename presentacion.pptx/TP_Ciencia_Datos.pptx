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682"/>
  </p:normalViewPr>
  <p:slideViewPr>
    <p:cSldViewPr snapToGrid="0">
      <p:cViewPr varScale="1">
        <p:scale>
          <a:sx n="88" d="100"/>
          <a:sy n="88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4202782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582092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2056171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832919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7186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3526575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8626669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646342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s-A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144108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9289691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1492130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DD062950-CEC0-6E40-A24B-CDD7F8516DF6}" type="datetimeFigureOut">
              <a:rPr lang="es-AR" smtClean="0"/>
              <a:t>2/12/25</a:t>
            </a:fld>
            <a:endParaRPr lang="es-A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s-A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4908E4C-24F8-DB49-A1AC-6AFC62824F1D}" type="slidenum">
              <a:rPr lang="es-AR" smtClean="0"/>
              <a:t>‹Nº›</a:t>
            </a:fld>
            <a:endParaRPr lang="es-AR"/>
          </a:p>
        </p:txBody>
      </p:sp>
    </p:spTree>
    <p:extLst>
      <p:ext uri="{BB962C8B-B14F-4D97-AF65-F5344CB8AC3E}">
        <p14:creationId xmlns:p14="http://schemas.microsoft.com/office/powerpoint/2010/main" val="2166504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D6E91F-A451-3BC2-73AA-73FF7C4AF1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98590" y="988741"/>
            <a:ext cx="5888754" cy="4880518"/>
          </a:xfrm>
          <a:noFill/>
          <a:ln>
            <a:noFill/>
          </a:ln>
        </p:spPr>
        <p:txBody>
          <a:bodyPr wrap="square">
            <a:normAutofit/>
          </a:bodyPr>
          <a:lstStyle/>
          <a:p>
            <a:pPr algn="l"/>
            <a:r>
              <a:rPr lang="es-AR" sz="4100">
                <a:solidFill>
                  <a:schemeClr val="bg1"/>
                </a:solidFill>
              </a:rPr>
              <a:t>Relación entre inversión educativa y crecimiento económico</a:t>
            </a:r>
            <a:br>
              <a:rPr lang="es-AR" sz="4100">
                <a:solidFill>
                  <a:schemeClr val="bg1"/>
                </a:solidFill>
              </a:rPr>
            </a:br>
            <a:r>
              <a:rPr lang="es-AR" sz="4100">
                <a:solidFill>
                  <a:schemeClr val="bg1"/>
                </a:solidFill>
              </a:rPr>
              <a:t>Análisis global con foco en Argentina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5BD17F-C95C-40ED-8D04-03295D46F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03DEB5-0B19-4F8E-84E2-00F5861C96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321564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B7D420F-E722-DAA5-D880-8DE0DF639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7700" y="2007220"/>
            <a:ext cx="2357553" cy="2843560"/>
          </a:xfrm>
        </p:spPr>
        <p:txBody>
          <a:bodyPr anchor="ctr">
            <a:normAutofit/>
          </a:bodyPr>
          <a:lstStyle/>
          <a:p>
            <a:pPr algn="r"/>
            <a:r>
              <a:rPr lang="es-AR" sz="1900">
                <a:solidFill>
                  <a:schemeClr val="bg1"/>
                </a:solidFill>
              </a:rPr>
              <a:t>Ciencia de Datos para Economía y Negocios – Trabajo Final</a:t>
            </a:r>
          </a:p>
          <a:p>
            <a:pPr algn="r"/>
            <a:r>
              <a:rPr lang="es-AR" sz="1900">
                <a:solidFill>
                  <a:schemeClr val="bg1"/>
                </a:solidFill>
              </a:rPr>
              <a:t>Integrantes: </a:t>
            </a:r>
          </a:p>
          <a:p>
            <a:pPr algn="r"/>
            <a:r>
              <a:rPr lang="es-AR" sz="1900">
                <a:solidFill>
                  <a:schemeClr val="bg1"/>
                </a:solidFill>
              </a:rPr>
              <a:t>Juan Tomás Dumont (912486)</a:t>
            </a:r>
          </a:p>
          <a:p>
            <a:pPr algn="r"/>
            <a:r>
              <a:rPr lang="es-AR" sz="1900">
                <a:solidFill>
                  <a:schemeClr val="bg1"/>
                </a:solidFill>
              </a:rPr>
              <a:t>Facundo Rojas (911635)</a:t>
            </a:r>
          </a:p>
          <a:p>
            <a:pPr algn="r"/>
            <a:endParaRPr lang="es-AR" sz="19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24603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C12EA13F-A267-803B-7538-2EAD2BB03C4B}"/>
              </a:ext>
            </a:extLst>
          </p:cNvPr>
          <p:cNvSpPr txBox="1"/>
          <p:nvPr/>
        </p:nvSpPr>
        <p:spPr>
          <a:xfrm>
            <a:off x="829781" y="2708804"/>
            <a:ext cx="3698803" cy="144039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lIns="182880" tIns="182880" rIns="182880" bIns="182880" rtlCol="0" anchor="ctr">
            <a:normAutofit/>
          </a:bodyPr>
          <a:lstStyle/>
          <a:p>
            <a:pPr algn="ctr" defTabSz="91440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400" cap="all" spc="200">
                <a:latin typeface="+mj-lt"/>
                <a:ea typeface="+mj-ea"/>
                <a:cs typeface="+mj-cs"/>
              </a:rPr>
              <a:t>Objetivo e hipótesis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D648D9D8-319C-339E-F007-B56AC1806C01}"/>
              </a:ext>
            </a:extLst>
          </p:cNvPr>
          <p:cNvSpPr txBox="1"/>
          <p:nvPr/>
        </p:nvSpPr>
        <p:spPr>
          <a:xfrm>
            <a:off x="6049182" y="802638"/>
            <a:ext cx="5313037" cy="5133705"/>
          </a:xfrm>
          <a:prstGeom prst="rect">
            <a:avLst/>
          </a:prstGeom>
          <a:noFill/>
        </p:spPr>
        <p:txBody>
          <a:bodyPr vert="horz" lIns="91440" tIns="45720" rIns="91440" bIns="45720" rtlCol="0" anchor="ctr">
            <a:normAutofit fontScale="92500" lnSpcReduction="20000"/>
          </a:bodyPr>
          <a:lstStyle/>
          <a:p>
            <a:r>
              <a:rPr lang="es-AR" b="1" dirty="0">
                <a:solidFill>
                  <a:schemeClr val="bg1"/>
                </a:solidFill>
              </a:rPr>
              <a:t>Objetivo general</a:t>
            </a:r>
          </a:p>
          <a:p>
            <a:r>
              <a:rPr lang="es-AR" dirty="0">
                <a:solidFill>
                  <a:schemeClr val="bg1"/>
                </a:solidFill>
              </a:rPr>
              <a:t>Analizar cómo la inversión en educación (gasto público, matrícula y alfabetización) se relaciona con el nivel de desarrollo económico (PBI per cápita PPP) en los países del </a:t>
            </a:r>
            <a:r>
              <a:rPr lang="es-AR" dirty="0" err="1">
                <a:solidFill>
                  <a:schemeClr val="bg1"/>
                </a:solidFill>
              </a:rPr>
              <a:t>World</a:t>
            </a:r>
            <a:r>
              <a:rPr lang="es-AR" dirty="0">
                <a:solidFill>
                  <a:schemeClr val="bg1"/>
                </a:solidFill>
              </a:rPr>
              <a:t> Bank, destacando el caso argentino dentro del contexto internacional.</a:t>
            </a:r>
          </a:p>
          <a:p>
            <a:br>
              <a:rPr lang="es-AR" dirty="0">
                <a:solidFill>
                  <a:schemeClr val="bg1"/>
                </a:solidFill>
              </a:rPr>
            </a:br>
            <a:endParaRPr lang="es-AR" dirty="0">
              <a:solidFill>
                <a:schemeClr val="bg1"/>
              </a:solidFill>
            </a:endParaRPr>
          </a:p>
          <a:p>
            <a:r>
              <a:rPr lang="es-AR" b="1" dirty="0">
                <a:solidFill>
                  <a:schemeClr val="bg1"/>
                </a:solidFill>
              </a:rPr>
              <a:t>Objetivos específicos</a:t>
            </a:r>
          </a:p>
          <a:p>
            <a:r>
              <a:rPr lang="es-AR" dirty="0">
                <a:solidFill>
                  <a:schemeClr val="bg1"/>
                </a:solidFill>
              </a:rPr>
              <a:t>Comparar patrones educativos y económicos entre </a:t>
            </a:r>
            <a:r>
              <a:rPr lang="es-AR" b="1" dirty="0">
                <a:solidFill>
                  <a:schemeClr val="bg1"/>
                </a:solidFill>
              </a:rPr>
              <a:t>países desarrollados</a:t>
            </a:r>
            <a:r>
              <a:rPr lang="es-AR" dirty="0">
                <a:solidFill>
                  <a:schemeClr val="bg1"/>
                </a:solidFill>
              </a:rPr>
              <a:t> y </a:t>
            </a:r>
            <a:r>
              <a:rPr lang="es-AR" b="1" dirty="0">
                <a:solidFill>
                  <a:schemeClr val="bg1"/>
                </a:solidFill>
              </a:rPr>
              <a:t>emergentes</a:t>
            </a:r>
            <a:r>
              <a:rPr lang="es-AR" dirty="0">
                <a:solidFill>
                  <a:schemeClr val="bg1"/>
                </a:solidFill>
              </a:rPr>
              <a:t>.</a:t>
            </a:r>
          </a:p>
          <a:p>
            <a:r>
              <a:rPr lang="es-AR" dirty="0">
                <a:solidFill>
                  <a:schemeClr val="bg1"/>
                </a:solidFill>
              </a:rPr>
              <a:t>Evaluar </a:t>
            </a:r>
            <a:r>
              <a:rPr lang="es-AR" dirty="0" err="1">
                <a:solidFill>
                  <a:schemeClr val="bg1"/>
                </a:solidFill>
              </a:rPr>
              <a:t>etadísticamente</a:t>
            </a:r>
            <a:r>
              <a:rPr lang="es-AR" dirty="0">
                <a:solidFill>
                  <a:schemeClr val="bg1"/>
                </a:solidFill>
              </a:rPr>
              <a:t> la asociación entre inversión educativa y PBI per cápita.</a:t>
            </a:r>
          </a:p>
          <a:p>
            <a:r>
              <a:rPr lang="es-AR" dirty="0">
                <a:solidFill>
                  <a:schemeClr val="bg1"/>
                </a:solidFill>
              </a:rPr>
              <a:t>Analizar la evolución relativa de Argentina entre 2000–2019.</a:t>
            </a:r>
          </a:p>
          <a:p>
            <a:br>
              <a:rPr lang="es-AR" dirty="0">
                <a:solidFill>
                  <a:schemeClr val="bg1"/>
                </a:solidFill>
              </a:rPr>
            </a:br>
            <a:endParaRPr lang="es-AR" dirty="0">
              <a:solidFill>
                <a:schemeClr val="bg1"/>
              </a:solidFill>
            </a:endParaRPr>
          </a:p>
          <a:p>
            <a:r>
              <a:rPr lang="es-AR" b="1" dirty="0">
                <a:solidFill>
                  <a:schemeClr val="bg1"/>
                </a:solidFill>
              </a:rPr>
              <a:t>Hipótesis de trabajo</a:t>
            </a:r>
          </a:p>
          <a:p>
            <a:r>
              <a:rPr lang="es-AR" b="1" dirty="0">
                <a:solidFill>
                  <a:schemeClr val="bg1"/>
                </a:solidFill>
              </a:rPr>
              <a:t>H1:</a:t>
            </a:r>
            <a:r>
              <a:rPr lang="es-AR" dirty="0">
                <a:solidFill>
                  <a:schemeClr val="bg1"/>
                </a:solidFill>
              </a:rPr>
              <a:t> Mayor inversión educativa → mayor PBI per cápita (relación positiva a nivel global).</a:t>
            </a:r>
          </a:p>
          <a:p>
            <a:r>
              <a:rPr lang="es-AR" b="1" dirty="0">
                <a:solidFill>
                  <a:schemeClr val="bg1"/>
                </a:solidFill>
              </a:rPr>
              <a:t>H2:</a:t>
            </a:r>
            <a:r>
              <a:rPr lang="es-AR" dirty="0">
                <a:solidFill>
                  <a:schemeClr val="bg1"/>
                </a:solidFill>
              </a:rPr>
              <a:t> Los países de altos ingresos muestran un esfuerzo educativo más estable y elevado.</a:t>
            </a:r>
          </a:p>
          <a:p>
            <a:r>
              <a:rPr lang="es-AR" b="1" dirty="0">
                <a:solidFill>
                  <a:schemeClr val="bg1"/>
                </a:solidFill>
              </a:rPr>
              <a:t>H3:</a:t>
            </a:r>
            <a:r>
              <a:rPr lang="es-AR" dirty="0">
                <a:solidFill>
                  <a:schemeClr val="bg1"/>
                </a:solidFill>
              </a:rPr>
              <a:t> Argentina sigue esta relación positiva, aunque de manera parcial por su volatilidad macroeconómica.</a:t>
            </a: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endParaRPr lang="en-US" dirty="0">
              <a:solidFill>
                <a:schemeClr val="bg1"/>
              </a:solidFill>
            </a:endParaRPr>
          </a:p>
          <a:p>
            <a:pPr defTabSz="914400">
              <a:lnSpc>
                <a:spcPct val="90000"/>
              </a:lnSpc>
              <a:spcBef>
                <a:spcPts val="1000"/>
              </a:spcBef>
              <a:buClr>
                <a:schemeClr val="accent2"/>
              </a:buClr>
            </a:pPr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954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85578-1E4B-4014-9D52-E7689475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50B3F-9390-4CA1-B3C8-91529289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ADD6C42-B3F5-6C84-9ED9-C4ECDC0FB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518" y="1059838"/>
            <a:ext cx="3632052" cy="473832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s-AR" sz="3600">
                <a:solidFill>
                  <a:schemeClr val="bg1"/>
                </a:solidFill>
              </a:rPr>
              <a:t>Datos y variables utilizadas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3A87319-6012-080D-E0A8-AA4B809B18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9109" y="1059838"/>
            <a:ext cx="4665397" cy="4738323"/>
          </a:xfrm>
        </p:spPr>
        <p:txBody>
          <a:bodyPr anchor="ctr">
            <a:normAutofit fontScale="92500" lnSpcReduction="20000"/>
          </a:bodyPr>
          <a:lstStyle/>
          <a:p>
            <a:pPr>
              <a:lnSpc>
                <a:spcPct val="90000"/>
              </a:lnSpc>
            </a:pPr>
            <a:r>
              <a:rPr lang="es-AR" sz="1700" b="1" dirty="0"/>
              <a:t>Fuente de datos</a:t>
            </a:r>
            <a:endParaRPr lang="es-AR" sz="1700" dirty="0"/>
          </a:p>
          <a:p>
            <a:pPr>
              <a:lnSpc>
                <a:spcPct val="90000"/>
              </a:lnSpc>
            </a:pPr>
            <a:r>
              <a:rPr lang="es-AR" sz="1700" dirty="0" err="1"/>
              <a:t>World</a:t>
            </a:r>
            <a:r>
              <a:rPr lang="es-AR" sz="1700" dirty="0"/>
              <a:t> Bank – </a:t>
            </a:r>
            <a:r>
              <a:rPr lang="es-AR" sz="1700" dirty="0" err="1"/>
              <a:t>World</a:t>
            </a:r>
            <a:r>
              <a:rPr lang="es-AR" sz="1700" dirty="0"/>
              <a:t> </a:t>
            </a:r>
            <a:r>
              <a:rPr lang="es-AR" sz="1700" dirty="0" err="1"/>
              <a:t>Development</a:t>
            </a:r>
            <a:r>
              <a:rPr lang="es-AR" sz="1700" dirty="0"/>
              <a:t> </a:t>
            </a:r>
            <a:r>
              <a:rPr lang="es-AR" sz="1700" dirty="0" err="1"/>
              <a:t>Indicators</a:t>
            </a:r>
            <a:r>
              <a:rPr lang="es-AR" sz="1700" dirty="0"/>
              <a:t> (WDI).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Años considerados: 2000, 2010 y 2019.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Cobertura: todos los países con información disponible.</a:t>
            </a:r>
          </a:p>
          <a:p>
            <a:pPr>
              <a:lnSpc>
                <a:spcPct val="90000"/>
              </a:lnSpc>
            </a:pPr>
            <a:r>
              <a:rPr lang="es-AR" sz="1700" b="1" dirty="0"/>
              <a:t>Variables principales</a:t>
            </a:r>
            <a:endParaRPr lang="es-AR" sz="1700" dirty="0"/>
          </a:p>
          <a:p>
            <a:pPr>
              <a:lnSpc>
                <a:spcPct val="90000"/>
              </a:lnSpc>
            </a:pPr>
            <a:r>
              <a:rPr lang="es-AR" sz="1700" dirty="0"/>
              <a:t>PBI per cápita (PPP, USD): NY.GDP.PCAP.PP.CD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Gasto público en educación (% del PBI): SE.XPD.TOTL.GD.ZS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Matrícula terciaria (% tasa bruta): SE.TER.ENRR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Tasa de alfabetización adulta (%): SE.ADT.LITR.ZS</a:t>
            </a:r>
          </a:p>
          <a:p>
            <a:pPr>
              <a:lnSpc>
                <a:spcPct val="90000"/>
              </a:lnSpc>
            </a:pPr>
            <a:r>
              <a:rPr lang="es-AR" sz="1700" b="1" dirty="0"/>
              <a:t>Enfoque</a:t>
            </a:r>
            <a:endParaRPr lang="es-AR" sz="1700" dirty="0"/>
          </a:p>
          <a:p>
            <a:pPr>
              <a:lnSpc>
                <a:spcPct val="90000"/>
              </a:lnSpc>
            </a:pPr>
            <a:r>
              <a:rPr lang="es-AR" sz="1700" dirty="0"/>
              <a:t>“Se trabaja con todos los países para el análisis estadístico.”</a:t>
            </a:r>
          </a:p>
          <a:p>
            <a:pPr>
              <a:lnSpc>
                <a:spcPct val="90000"/>
              </a:lnSpc>
            </a:pPr>
            <a:r>
              <a:rPr lang="es-AR" sz="1700" dirty="0"/>
              <a:t>“Se destaca específicamente el caso de Argentina en gráficos y discusión.”</a:t>
            </a:r>
          </a:p>
          <a:p>
            <a:pPr>
              <a:lnSpc>
                <a:spcPct val="90000"/>
              </a:lnSpc>
            </a:pPr>
            <a:endParaRPr lang="es-AR" sz="1400" dirty="0"/>
          </a:p>
        </p:txBody>
      </p:sp>
    </p:spTree>
    <p:extLst>
      <p:ext uri="{BB962C8B-B14F-4D97-AF65-F5344CB8AC3E}">
        <p14:creationId xmlns:p14="http://schemas.microsoft.com/office/powerpoint/2010/main" val="1972481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4174E8-419D-A00C-34D7-2B0F44072D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AR" sz="2400">
                <a:solidFill>
                  <a:schemeClr val="tx1"/>
                </a:solidFill>
              </a:rPr>
              <a:t>Procesamiento de datos: limpieza, missing y outliers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B6818EC-A1E4-8AE7-8E9C-6EA4C16F6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49182" y="802638"/>
            <a:ext cx="5408696" cy="5252722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Datos faltantes (</a:t>
            </a:r>
            <a:r>
              <a:rPr lang="es-AR" sz="1700" b="1" dirty="0" err="1">
                <a:solidFill>
                  <a:schemeClr val="bg1"/>
                </a:solidFill>
              </a:rPr>
              <a:t>missing</a:t>
            </a:r>
            <a:r>
              <a:rPr lang="es-AR" sz="1700" b="1" dirty="0">
                <a:solidFill>
                  <a:schemeClr val="bg1"/>
                </a:solidFill>
              </a:rPr>
              <a:t>)</a:t>
            </a:r>
            <a:endParaRPr lang="es-AR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PBI per cápita (PPP):</a:t>
            </a:r>
            <a:r>
              <a:rPr lang="es-AR" sz="1700" dirty="0">
                <a:solidFill>
                  <a:schemeClr val="bg1"/>
                </a:solidFill>
              </a:rPr>
              <a:t> 8.93% de valores faltantes</a:t>
            </a:r>
          </a:p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Gasto educativo (% del PBI):</a:t>
            </a:r>
            <a:r>
              <a:rPr lang="es-AR" sz="1700" dirty="0">
                <a:solidFill>
                  <a:schemeClr val="bg1"/>
                </a:solidFill>
              </a:rPr>
              <a:t> 37.28%</a:t>
            </a:r>
          </a:p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Matrícula terciaria:</a:t>
            </a:r>
            <a:r>
              <a:rPr lang="es-AR" sz="1700" dirty="0">
                <a:solidFill>
                  <a:schemeClr val="bg1"/>
                </a:solidFill>
              </a:rPr>
              <a:t> 40.23%</a:t>
            </a:r>
          </a:p>
          <a:p>
            <a:pPr>
              <a:lnSpc>
                <a:spcPct val="90000"/>
              </a:lnSpc>
            </a:pPr>
            <a:r>
              <a:rPr lang="es-AR" sz="1700" b="1" dirty="0">
                <a:solidFill>
                  <a:schemeClr val="bg1"/>
                </a:solidFill>
              </a:rPr>
              <a:t>Alfabetización:</a:t>
            </a:r>
            <a:r>
              <a:rPr lang="es-AR" sz="1700" dirty="0">
                <a:solidFill>
                  <a:schemeClr val="bg1"/>
                </a:solidFill>
              </a:rPr>
              <a:t> 83.21% (la variable más incompleta del conjunto)</a:t>
            </a:r>
          </a:p>
          <a:p>
            <a:pPr>
              <a:lnSpc>
                <a:spcPct val="90000"/>
              </a:lnSpc>
            </a:pPr>
            <a:r>
              <a:rPr lang="es-AR" sz="1700" dirty="0">
                <a:solidFill>
                  <a:schemeClr val="bg1"/>
                </a:solidFill>
              </a:rPr>
              <a:t>Los faltantes son más frecuentes en países emergentes y en el año 2000. Debido a la irregularidad de estas series (especialmente alfabetización), se decidió trabajar con </a:t>
            </a:r>
            <a:r>
              <a:rPr lang="es-AR" sz="1700" b="1" dirty="0">
                <a:solidFill>
                  <a:schemeClr val="bg1"/>
                </a:solidFill>
              </a:rPr>
              <a:t>casos completos</a:t>
            </a:r>
            <a:r>
              <a:rPr lang="es-AR" sz="1700" dirty="0">
                <a:solidFill>
                  <a:schemeClr val="bg1"/>
                </a:solidFill>
              </a:rPr>
              <a:t> para el análisis inferencial.</a:t>
            </a:r>
          </a:p>
          <a:p>
            <a:pPr>
              <a:lnSpc>
                <a:spcPct val="90000"/>
              </a:lnSpc>
            </a:pPr>
            <a:r>
              <a:rPr lang="es-AR" sz="1700" b="1" dirty="0" err="1">
                <a:solidFill>
                  <a:schemeClr val="bg1"/>
                </a:solidFill>
              </a:rPr>
              <a:t>Outliers</a:t>
            </a:r>
            <a:endParaRPr lang="es-AR" sz="1700" dirty="0">
              <a:solidFill>
                <a:schemeClr val="bg1"/>
              </a:solidFill>
            </a:endParaRPr>
          </a:p>
          <a:p>
            <a:pPr>
              <a:lnSpc>
                <a:spcPct val="90000"/>
              </a:lnSpc>
            </a:pPr>
            <a:r>
              <a:rPr lang="es-AR" sz="1700" dirty="0">
                <a:solidFill>
                  <a:schemeClr val="bg1"/>
                </a:solidFill>
              </a:rPr>
              <a:t>Los </a:t>
            </a:r>
            <a:r>
              <a:rPr lang="es-AR" sz="1700" dirty="0" err="1">
                <a:solidFill>
                  <a:schemeClr val="bg1"/>
                </a:solidFill>
              </a:rPr>
              <a:t>outliers</a:t>
            </a:r>
            <a:r>
              <a:rPr lang="es-AR" sz="1700" dirty="0">
                <a:solidFill>
                  <a:schemeClr val="bg1"/>
                </a:solidFill>
              </a:rPr>
              <a:t> detectados en PBI per cápita corresponden a economías de muy alto ingreso (Qatar, Luxemburgo).</a:t>
            </a:r>
          </a:p>
          <a:p>
            <a:pPr>
              <a:lnSpc>
                <a:spcPct val="90000"/>
              </a:lnSpc>
            </a:pPr>
            <a:r>
              <a:rPr lang="es-AR" sz="1700" dirty="0">
                <a:solidFill>
                  <a:schemeClr val="bg1"/>
                </a:solidFill>
              </a:rPr>
              <a:t>En matrícula terciaria, valores superiores al 100% son correctos (tasa bruta).</a:t>
            </a:r>
            <a:br>
              <a:rPr lang="es-AR" sz="1700" dirty="0">
                <a:solidFill>
                  <a:schemeClr val="bg1"/>
                </a:solidFill>
              </a:rPr>
            </a:br>
            <a:r>
              <a:rPr lang="es-AR" sz="1700" b="1" dirty="0">
                <a:solidFill>
                  <a:schemeClr val="bg1"/>
                </a:solidFill>
              </a:rPr>
              <a:t>Decisión:</a:t>
            </a:r>
            <a:r>
              <a:rPr lang="es-AR" sz="1700" dirty="0">
                <a:solidFill>
                  <a:schemeClr val="bg1"/>
                </a:solidFill>
              </a:rPr>
              <a:t> no se eliminaron </a:t>
            </a:r>
            <a:r>
              <a:rPr lang="es-AR" sz="1700" dirty="0" err="1">
                <a:solidFill>
                  <a:schemeClr val="bg1"/>
                </a:solidFill>
              </a:rPr>
              <a:t>outliers</a:t>
            </a:r>
            <a:r>
              <a:rPr lang="es-AR" sz="1700" dirty="0">
                <a:solidFill>
                  <a:schemeClr val="bg1"/>
                </a:solidFill>
              </a:rPr>
              <a:t> porque representan valores reales y relevantes para el fenómeno estudiado.</a:t>
            </a:r>
          </a:p>
          <a:p>
            <a:pPr>
              <a:lnSpc>
                <a:spcPct val="90000"/>
              </a:lnSpc>
            </a:pPr>
            <a:endParaRPr lang="es-AR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18584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EF733E-4A51-BBCE-5BA7-C6FEC4229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Gasto público en educación según nivel de desarrollo</a:t>
            </a:r>
            <a:endParaRPr lang="es-AR" sz="4100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E2DE94A-0508-2C0F-F3D3-DD0AF42024A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 gráfico muestra el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gasto educativo como % del PBI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promediado por año y por grupo de países: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Países de altos ingresos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Países emergentes y en desarrollo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 observa que: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Los países de altos ingresos mantienen, en promedio, un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esfuerzo fiscal ligeramente mayor y más estable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con valores en torno al 4,5–5% del PBI.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Los países emergentes muestran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niveles algo inferiores y más heterogéneos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alrededor del 4% del PBI.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Interpretación: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brecha en esfuerzo educativo acompaña la diferenciación en desarrollo económico.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inversión en educación aparece como una política relativamente prioritaria en países de mayores ingresos, aunque el diferencial no es tan amplio como el del PBI per cápita.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64A4AAD-87D1-9838-330B-8E15FB56C6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4194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E1D465-54DF-1909-48A1-DED022283F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PBI per cápita (PPP) según nivel de desarrollo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95CBF70-09DA-3B71-A99F-6959762399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 gráfico presenta el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PBI per cápita (PPP, USD)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promediado por grupo de países y año.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 constata que: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Los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países de altos ingresos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alcanzan niveles de PBI per cápita múltiples veces superiores a los emergentes.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brecha se mantiene en los tres años considerados (2000, 2010 y 2019), lo que sugiere una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diferencia estructural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más que transitoria.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Estos resultados son coherentes con la clasificación del Banco Mundial por nivel de ingreso.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Esta segmentación justifica el análisis separado de grupos (“Altos ingresos” vs “Emergentes”) en el resto del trabajo.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6164BB46-108E-4DC5-720E-0A67D802F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5989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FD96FF-7AD8-59EA-59D6-0F06BCC36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Argentina: evolución del PBI y del gasto educativo (2000 = 100)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259FC5A-CAE2-4755-F7B1-3F15C60E52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 este gráfico, tanto el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PBI per cápita (PPP)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como el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gasto educativo (% del PBI)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se expresan como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índices con base 2000 = 100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lo que permite comparar la evolución relativa de ambas series.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 observa que: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Entre 2000 y 2010, ambas series muestran un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crecimiento significativo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aunque con distinta intensidad.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Entre 2010 y 2019 se aprecia una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pérdida de dinamismo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con cierta reversión o estancamiento en ambas variables.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trayectoria sugiere una asociación cualitativa positiva entre esfuerzo educativo y desempeño económico, pero con </a:t>
            </a:r>
            <a:r>
              <a:rPr kumimoji="0" lang="es-AR" altLang="es-AR" sz="13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limitaciones en la sostenibilidad en el tiempo</a:t>
            </a: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3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inestabilidad macroeconómica argentina aparece como un factor relevante que condiciona esta relación.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3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E69D7AC-67FC-263C-0B53-D229BA566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85589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062EDF-441E-FAE3-DAA9-D17B4C0D3F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Comparación internacional: educación y desarrollo</a:t>
            </a:r>
            <a:endParaRPr lang="es-AR" sz="41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F4B4CA8-3C4C-6769-0F1F-B9CA23CBA4F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 gráfico compara tres “unidades”: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Promedio países de altos ingresos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Promedio países emergentes y en desarrollo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Argentina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Se presentan dos paneles con escalas separadas: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Panel 1: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Inversión educativa (% del PBI).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Panel 2: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PBI per cápita (PPP, USD).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Principales hallazgos: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Argentina destina aproximadamente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5% de su PBI a educación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en línea con el promedio de países emergentes, pero por debajo de los máximos de países desarrollados.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En términos de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PBI per cápita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Argentina se ubica claramente por debajo del promedio de altos ingresos, pero por encima de varios emergentes.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Conclusión visual:</a:t>
            </a: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El país se comporta como una </a:t>
            </a:r>
            <a:r>
              <a:rPr kumimoji="0" lang="es-AR" altLang="es-AR" sz="11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economía emergente intermedia</a:t>
            </a:r>
            <a:r>
              <a:rPr kumimoji="0" lang="es-AR" altLang="es-AR" sz="11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tanto en esfuerzo educativo como en nivel de ingreso.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1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CCBA8064-3EC9-FE79-0C03-1C16A02FA3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796295"/>
            <a:ext cx="5150277" cy="309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791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EE757C2-603E-48B8-9ACB-A3E23F578F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534655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3FF26F1-B516-714C-411E-B8F5A710D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0327" y="2865771"/>
            <a:ext cx="5928360" cy="1126462"/>
          </a:xfrm>
          <a:noFill/>
          <a:ln>
            <a:solidFill>
              <a:schemeClr val="bg1"/>
            </a:solidFill>
          </a:ln>
        </p:spPr>
        <p:txBody>
          <a:bodyPr>
            <a:normAutofit/>
          </a:bodyPr>
          <a:lstStyle/>
          <a:p>
            <a:r>
              <a:rPr lang="es-AR" sz="2200">
                <a:solidFill>
                  <a:schemeClr val="bg1"/>
                </a:solidFill>
              </a:rPr>
              <a:t>Regresión múltiple: educación y PBI per cápita a nivel global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D89BB9B-FD13-3FC1-55F9-75544AE6F6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118832" y="973600"/>
            <a:ext cx="3374136" cy="492428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Resultados clave 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 coeficiente asociado al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gasto educativo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es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positivo y estadísticamente significativo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, lo que indica que, en promedio, un mayor esfuerzo educativo se asocia con mayor PBI per cápita.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alfabetización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también tiene un efecto positivo, reforzando la idea de que el capital humano básico está vinculado al desarrollo.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matrícula terciaria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muestra una relación positiva pero con significancia estadística más débil, posiblemente por la alta proporción de </a:t>
            </a:r>
            <a:r>
              <a:rPr kumimoji="0" lang="es-AR" altLang="es-AR" sz="1400" b="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</a:rPr>
              <a:t>missing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y la heterogeneidad entre países.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Calidad del ajuste:</a:t>
            </a:r>
            <a:endParaRPr kumimoji="0" lang="es-AR" altLang="es-AR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El </a:t>
            </a:r>
            <a:r>
              <a:rPr kumimoji="0" lang="es-AR" altLang="es-AR" sz="1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R²</a:t>
            </a:r>
            <a:r>
              <a:rPr kumimoji="0" lang="es-AR" altLang="es-AR" sz="14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del modelo es moderado, coherente con la idea de que el desarrollo económico depende de múltiples factores más allá de la educación (estructura productiva, instituciones, apertura, etc.).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3619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AEFFFF2-9EB4-4B6C-B9F8-2BA3EF89A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307017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D65299F-028F-4AFC-B46A-8DB33E20FE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70172" y="0"/>
            <a:ext cx="912182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AC87F6E-526A-49B5-995D-42DB656594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17423" y="1443035"/>
            <a:ext cx="3971932" cy="3971930"/>
          </a:xfrm>
          <a:prstGeom prst="ellipse">
            <a:avLst/>
          </a:prstGeom>
          <a:solidFill>
            <a:srgbClr val="FFFFFF"/>
          </a:solidFill>
          <a:ln w="317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D127958-6478-0301-B68B-FC37E8D94F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0873" y="1586484"/>
            <a:ext cx="3685032" cy="3685032"/>
          </a:xfrm>
          <a:prstGeom prst="ellipse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txBody>
          <a:bodyPr>
            <a:normAutofit/>
          </a:bodyPr>
          <a:lstStyle/>
          <a:p>
            <a:r>
              <a:rPr lang="es-AR" sz="2300">
                <a:solidFill>
                  <a:srgbClr val="FFFFFF"/>
                </a:solidFill>
              </a:rPr>
              <a:t>Test t: diferencias en PBI per cápita entre grupos de países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31FA81-1C0D-86B0-4B38-56FA38AB37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591695" y="1402080"/>
            <a:ext cx="5320696" cy="405384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 lnSpcReduction="10000"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Se aplicó un </a:t>
            </a: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test t para muestras independientes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para comparar el PBI per cápita (PPP) entre: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Países de altos ingresos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Países emergentes y en desarrollo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s-AR" altLang="es-A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Resultados: 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diferencia de medias es </a:t>
            </a: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estadísticamente significativa (p &lt; 0.001)</a:t>
            </a: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La magnitud de la brecha es consistente con la observada en los gráficos de PBI.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Interpretación:</a:t>
            </a:r>
            <a:endParaRPr kumimoji="0" lang="es-AR" altLang="es-AR" sz="16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Existe una diferencia robusta y estadísticamente sustentada en el nivel de desarrollo económico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 entre ambos grupos.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600" b="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Este resultado fortalece la clasificación usada en el análisis descriptivo y en la regresión.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4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8961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AD85578-1E4B-4014-9D52-E768947503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38656" cy="6858000"/>
          </a:xfrm>
          <a:prstGeom prst="rect">
            <a:avLst/>
          </a:prstGeom>
          <a:solidFill>
            <a:schemeClr val="accent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8550B3F-9390-4CA1-B3C8-91529289DC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438656" y="0"/>
            <a:ext cx="465377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EBAEE31-200C-D054-3F65-81CF95D2B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9518" y="1059838"/>
            <a:ext cx="3632052" cy="4738324"/>
          </a:xfrm>
          <a:noFill/>
          <a:ln>
            <a:noFill/>
          </a:ln>
        </p:spPr>
        <p:txBody>
          <a:bodyPr>
            <a:normAutofit/>
          </a:bodyPr>
          <a:lstStyle/>
          <a:p>
            <a:r>
              <a:rPr lang="es-AR" sz="3600">
                <a:solidFill>
                  <a:schemeClr val="bg1"/>
                </a:solidFill>
              </a:rPr>
              <a:t>ANOVA: inversión educativa según nivel de desarrollo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F98917-6E48-8A9B-35BB-764BEE7815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79109" y="1059838"/>
            <a:ext cx="4665397" cy="4738323"/>
          </a:xfrm>
        </p:spPr>
        <p:txBody>
          <a:bodyPr anchor="ctr">
            <a:normAutofit/>
          </a:bodyPr>
          <a:lstStyle/>
          <a:p>
            <a:r>
              <a:rPr lang="es-AR" dirty="0"/>
              <a:t>Se estimó un </a:t>
            </a:r>
            <a:r>
              <a:rPr lang="es-AR" b="1" dirty="0"/>
              <a:t>ANOVA de una vía</a:t>
            </a:r>
            <a:r>
              <a:rPr lang="es-AR" dirty="0"/>
              <a:t> con la variable dependiente:</a:t>
            </a:r>
          </a:p>
          <a:p>
            <a:pPr lvl="1"/>
            <a:r>
              <a:rPr lang="es-AR" b="1" dirty="0"/>
              <a:t>Gasto educativo (% del PBI)</a:t>
            </a:r>
            <a:endParaRPr lang="es-AR" dirty="0"/>
          </a:p>
          <a:p>
            <a:pPr lvl="1"/>
            <a:r>
              <a:rPr lang="es-AR" dirty="0"/>
              <a:t>Factor: </a:t>
            </a:r>
            <a:r>
              <a:rPr lang="es-AR" b="1" dirty="0"/>
              <a:t>grupo de desarrollo</a:t>
            </a:r>
            <a:r>
              <a:rPr lang="es-AR" dirty="0"/>
              <a:t> (Altos ingresos vs Emergentes).</a:t>
            </a:r>
          </a:p>
          <a:p>
            <a:pPr lvl="1"/>
            <a:r>
              <a:rPr lang="es-AR" dirty="0"/>
              <a:t>El resultado indica que las diferencias entre grupos son </a:t>
            </a:r>
            <a:r>
              <a:rPr lang="es-AR" b="1" dirty="0"/>
              <a:t>estadísticamente significativas</a:t>
            </a:r>
            <a:r>
              <a:rPr lang="es-AR" dirty="0"/>
              <a:t> (p &lt; 0.05).</a:t>
            </a:r>
          </a:p>
          <a:p>
            <a:pPr lvl="1"/>
            <a:r>
              <a:rPr lang="es-AR" dirty="0"/>
              <a:t>El esfuerzo educativo no se distribuye de forma aleatoria entre los países, sino que se asocia sistemáticamente con su nivel de desarrollo.</a:t>
            </a:r>
          </a:p>
          <a:p>
            <a:pPr lvl="1"/>
            <a:r>
              <a:rPr lang="es-AR" dirty="0"/>
              <a:t>Esto complementa la regresión múltiple y refuerza la idea de que hay patrones estructurales en la inversión educativa.</a:t>
            </a:r>
          </a:p>
          <a:p>
            <a:endParaRPr lang="es-AR" dirty="0"/>
          </a:p>
        </p:txBody>
      </p:sp>
    </p:spTree>
    <p:extLst>
      <p:ext uri="{BB962C8B-B14F-4D97-AF65-F5344CB8AC3E}">
        <p14:creationId xmlns:p14="http://schemas.microsoft.com/office/powerpoint/2010/main" val="19902392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B0B2E0-57C1-A49E-0A8A-CC5F8377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 fontScale="90000"/>
          </a:bodyPr>
          <a:lstStyle/>
          <a:p>
            <a:r>
              <a:rPr lang="es-AR" sz="4100"/>
              <a:t>El caso argentino en perspectiva comparada</a:t>
            </a:r>
            <a:endParaRPr lang="es-AR" sz="41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B26DCB1-D009-B17E-A717-18299D1F76B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1" y="2599509"/>
            <a:ext cx="4530898" cy="363945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Argentina presenta un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nivel de gasto educativo en torno al 5% del PBI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lo que la ubica en el rango superior de los países emergentes.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Sin embargo, su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PBI per cápita (PPP)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se mantiene por debajo del promedio de los países de altos ingresos, reflejando su condición de economía de ingreso medio.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A partir de la evidencia: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trayectoria conjunta de PBI y gasto educativo sugiere una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relación positiva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, pero limitada por la volatilidad macroeconómica.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La inversión educativa es una condición necesaria pero </a:t>
            </a:r>
            <a:r>
              <a:rPr kumimoji="0" lang="es-AR" altLang="es-AR" sz="1400" b="1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no suficiente</a:t>
            </a:r>
            <a:r>
              <a:rPr kumimoji="0" lang="es-AR" altLang="es-AR" sz="1400" b="0" i="0" u="none" strike="noStrike" cap="none" normalizeH="0" baseline="0">
                <a:ln>
                  <a:noFill/>
                </a:ln>
                <a:effectLst/>
                <a:latin typeface="Arial" panose="020B0604020202020204" pitchFamily="34" charset="0"/>
              </a:rPr>
              <a:t> para alcanzar los niveles de ingreso de las economías avanzadas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9DFABB4B-B932-89CD-C989-E00FEC50A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2622472"/>
            <a:ext cx="5150277" cy="3437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1093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DA3C23-D39E-45A5-D271-1AAB1BF64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9781" y="2708804"/>
            <a:ext cx="3698803" cy="1440394"/>
          </a:xfrm>
          <a:noFill/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r>
              <a:rPr lang="es-AR" sz="2400">
                <a:solidFill>
                  <a:schemeClr val="tx1"/>
                </a:solidFill>
              </a:rPr>
              <a:t>Limitaciones del estudio y líneas futuras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FB403EBD-907E-4D59-98D4-A72CD1063C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15061" y="-2"/>
            <a:ext cx="6876939" cy="6858002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E75EC7C-6C84-FC14-A310-F8307C7519C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049182" y="802638"/>
            <a:ext cx="5408696" cy="5252722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Limitaciones:</a:t>
            </a:r>
            <a:endParaRPr kumimoji="0" lang="es-AR" altLang="es-AR" sz="15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Alta proporción de missing en algunas variables (especialmente alfabetización), lo que reduce el tamaño muestral efectivo.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Solo se utilizaron tres años puntuales (2000, 2010, 2019), lo que impide un análisis dinámico de largo plazo.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La regresión para Argentina se basa en muy pocas observaciones y debe interpretarse con cautela.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El diseño es observacional, por lo que los resultados indican </a:t>
            </a:r>
            <a:r>
              <a:rPr kumimoji="0" lang="es-AR" altLang="es-AR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asociaciones</a:t>
            </a: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y no permiten afirmar causalidad.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endParaRPr kumimoji="0" lang="es-AR" altLang="es-AR" sz="15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Líneas futuras:</a:t>
            </a:r>
            <a:endParaRPr kumimoji="0" lang="es-AR" altLang="es-AR" sz="15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Ampliar el período de análisis incorporando datos anuales completos → modelos de panel.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Agregar variables institucionales, fiscales y demográficas para controlar otras dimensiones del desarrollo.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Explorar técnicas adicionales como </a:t>
            </a:r>
            <a:r>
              <a:rPr kumimoji="0" lang="es-AR" altLang="es-AR" sz="1500" b="1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PCA</a:t>
            </a: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para sintetizar dimensiones de capital humano y desarrollo.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AR" altLang="es-AR" sz="1500" b="0" i="0" u="none" strike="noStrike" cap="none" normalizeH="0" baseline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Analizar subgrupos regionales (ej. América Latina, OCDE, Mercosur) para refinar las comparaciones.</a:t>
            </a:r>
          </a:p>
          <a:p>
            <a:pPr marL="0" marR="0" lvl="0" indent="0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AR" altLang="es-AR" sz="15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4770344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aquete">
  <a:themeElements>
    <a:clrScheme name="Paque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que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que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207</TotalTime>
  <Words>1542</Words>
  <Application>Microsoft Macintosh PowerPoint</Application>
  <PresentationFormat>Panorámica</PresentationFormat>
  <Paragraphs>121</Paragraphs>
  <Slides>13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6" baseType="lpstr">
      <vt:lpstr>Arial</vt:lpstr>
      <vt:lpstr>Gill Sans MT</vt:lpstr>
      <vt:lpstr>Paquete</vt:lpstr>
      <vt:lpstr>Relación entre inversión educativa y crecimiento económico Análisis global con foco en Argentina</vt:lpstr>
      <vt:lpstr>Presentación de PowerPoint</vt:lpstr>
      <vt:lpstr>Datos y variables utilizadas</vt:lpstr>
      <vt:lpstr>Procesamiento de datos: limpieza, missing y outliers</vt:lpstr>
      <vt:lpstr>Gasto público en educación según nivel de desarrollo</vt:lpstr>
      <vt:lpstr>PBI per cápita (PPP) según nivel de desarrollo</vt:lpstr>
      <vt:lpstr>Argentina: evolución del PBI y del gasto educativo (2000 = 100)</vt:lpstr>
      <vt:lpstr>Comparación internacional: educación y desarrollo</vt:lpstr>
      <vt:lpstr>Regresión múltiple: educación y PBI per cápita a nivel global</vt:lpstr>
      <vt:lpstr>Test t: diferencias en PBI per cápita entre grupos de países</vt:lpstr>
      <vt:lpstr>ANOVA: inversión educativa según nivel de desarrollo</vt:lpstr>
      <vt:lpstr>El caso argentino en perspectiva comparada</vt:lpstr>
      <vt:lpstr>Limitaciones del estudio y líneas futuras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Tomás Dumont</dc:creator>
  <cp:lastModifiedBy>Juan Tomás Dumont</cp:lastModifiedBy>
  <cp:revision>2</cp:revision>
  <dcterms:created xsi:type="dcterms:W3CDTF">2025-12-02T21:27:12Z</dcterms:created>
  <dcterms:modified xsi:type="dcterms:W3CDTF">2025-12-03T00:54:23Z</dcterms:modified>
</cp:coreProperties>
</file>